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2" r:id="rId23"/>
    <p:sldId id="268" r:id="rId19"/>
    <p:sldId id="257" r:id="rId8"/>
    <p:sldId id="273" r:id="rId24"/>
    <p:sldId id="274" r:id="rId25"/>
    <p:sldId id="258" r:id="rId9"/>
    <p:sldId id="259" r:id="rId10"/>
    <p:sldId id="260" r:id="rId11"/>
    <p:sldId id="261" r:id="rId12"/>
    <p:sldId id="269" r:id="rId20"/>
    <p:sldId id="270" r:id="rId21"/>
    <p:sldId id="271" r:id="rId22"/>
    <p:sldId id="262" r:id="rId13"/>
    <p:sldId id="263" r:id="rId14"/>
    <p:sldId id="264" r:id="rId15"/>
    <p:sldId id="265" r:id="rId16"/>
    <p:sldId id="266" r:id="rId17"/>
    <p:sldId id="267" r:id="rId18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4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18" Type="http://schemas.openxmlformats.org/officeDocument/2006/relationships/slide" Target="slides/slide19.xml"/><Relationship Id="rId19" Type="http://schemas.openxmlformats.org/officeDocument/2006/relationships/slide" Target="slides/slide3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2.xml"/><Relationship Id="rId24" Type="http://schemas.openxmlformats.org/officeDocument/2006/relationships/slide" Target="slides/slide5.xml"/><Relationship Id="rId25" Type="http://schemas.openxmlformats.org/officeDocument/2006/relationships/slide" Target="slides/slide6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>
                <a:solidFill>
                  <a:srgbClr val="000000"/>
                </a:solidFill>
              </a:rPr>
              <a:t>CameraNAS + Google Photos — Complete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rPr>
                <a:solidFill>
                  <a:srgbClr val="000000"/>
                </a:solidFill>
              </a:rPr>
              <a:t>Mi 360 1080p + CP Plus CP-E35Q + Android 64 GB phone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828800"/>
            <a:ext cx="1920240" cy="1005840"/>
          </a:xfrm>
          <a:prstGeom prst="roundRect">
            <a:avLst/>
          </a:prstGeom>
          <a:solidFill>
            <a:srgbClr val="DCEBF5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/>
            </a:pPr>
            <a:r>
              <a:rPr>
                <a:solidFill>
                  <a:srgbClr val="000000"/>
                </a:solidFill>
              </a:rPr>
              <a:t>Mi 360 1080p</a:t>
            </a:r>
          </a:p>
          <a:p>
            <a:pPr algn="ctr">
              <a:defRPr sz="1500" b="1"/>
            </a:pPr>
            <a:r>
              <a:rPr>
                <a:solidFill>
                  <a:srgbClr val="000000"/>
                </a:solidFill>
              </a:rPr>
              <a:t>microSD + Native NAS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3749039"/>
            <a:ext cx="1920240" cy="1005840"/>
          </a:xfrm>
          <a:prstGeom prst="roundRect">
            <a:avLst/>
          </a:prstGeom>
          <a:solidFill>
            <a:srgbClr val="EBE1F5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/>
            </a:pPr>
            <a:r>
              <a:rPr>
                <a:solidFill>
                  <a:srgbClr val="000000"/>
                </a:solidFill>
              </a:rPr>
              <a:t>CP Plus CP-E35Q</a:t>
            </a:r>
          </a:p>
          <a:p>
            <a:pPr algn="ctr">
              <a:defRPr sz="1500" b="1"/>
            </a:pPr>
            <a:r>
              <a:rPr>
                <a:solidFill>
                  <a:srgbClr val="000000"/>
                </a:solidFill>
              </a:rPr>
              <a:t>RTSP / HEVC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2560320"/>
            <a:ext cx="1828800" cy="1280160"/>
          </a:xfrm>
          <a:prstGeom prst="roundRect">
            <a:avLst/>
          </a:prstGeom>
          <a:solidFill>
            <a:srgbClr val="E1F5E1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/>
            </a:pPr>
            <a:r>
              <a:rPr>
                <a:solidFill>
                  <a:srgbClr val="000000"/>
                </a:solidFill>
              </a:rPr>
              <a:t>PHONE</a:t>
            </a:r>
          </a:p>
          <a:p>
            <a:pPr algn="ctr">
              <a:defRPr sz="1600" b="1"/>
            </a:pPr>
            <a:r>
              <a:rPr>
                <a:solidFill>
                  <a:srgbClr val="000000"/>
                </a:solidFill>
              </a:rPr>
              <a:t>CameraNAS</a:t>
            </a:r>
          </a:p>
          <a:p>
            <a:pPr algn="ctr">
              <a:defRPr sz="1600" b="1"/>
            </a:pPr>
            <a:r>
              <a:rPr>
                <a:solidFill>
                  <a:srgbClr val="000000"/>
                </a:solidFill>
              </a:rPr>
              <a:t>Shared Storage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2560320"/>
            <a:ext cx="1828800" cy="1280160"/>
          </a:xfrm>
          <a:prstGeom prst="roundRect">
            <a:avLst/>
          </a:prstGeom>
          <a:solidFill>
            <a:srgbClr val="F5F0D7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/>
            </a:pPr>
            <a:r>
              <a:rPr>
                <a:solidFill>
                  <a:srgbClr val="000000"/>
                </a:solidFill>
              </a:rPr>
              <a:t>Python Manager</a:t>
            </a:r>
          </a:p>
          <a:p>
            <a:pPr algn="ctr">
              <a:defRPr sz="1500" b="1"/>
            </a:pPr>
            <a:r>
              <a:rPr>
                <a:solidFill>
                  <a:srgbClr val="000000"/>
                </a:solidFill>
              </a:rPr>
              <a:t>+ SQLite</a:t>
            </a:r>
          </a:p>
          <a:p>
            <a:pPr algn="ctr">
              <a:defRPr sz="1500" b="1"/>
            </a:pPr>
            <a:r>
              <a:rPr>
                <a:solidFill>
                  <a:srgbClr val="000000"/>
                </a:solidFill>
              </a:rPr>
              <a:t>+ Logs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560320"/>
            <a:ext cx="1828800" cy="1280160"/>
          </a:xfrm>
          <a:prstGeom prst="roundRect">
            <a:avLst/>
          </a:prstGeom>
          <a:solidFill>
            <a:srgbClr val="E1EBF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/>
            </a:pPr>
            <a:r>
              <a:rPr>
                <a:solidFill>
                  <a:srgbClr val="000000"/>
                </a:solidFill>
              </a:rPr>
              <a:t>Google Photos</a:t>
            </a:r>
          </a:p>
          <a:p>
            <a:pPr algn="ctr">
              <a:defRPr sz="1500" b="1"/>
            </a:pPr>
            <a:r>
              <a:rPr>
                <a:solidFill>
                  <a:srgbClr val="000000"/>
                </a:solidFill>
              </a:rPr>
              <a:t>Backup +</a:t>
            </a:r>
          </a:p>
          <a:p>
            <a:pPr algn="ctr">
              <a:defRPr sz="1500" b="1"/>
            </a:pPr>
            <a:r>
              <a:rPr>
                <a:solidFill>
                  <a:srgbClr val="000000"/>
                </a:solidFill>
              </a:rPr>
              <a:t>Verification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0" y="2560320"/>
            <a:ext cx="1554480" cy="1280160"/>
          </a:xfrm>
          <a:prstGeom prst="roundRect">
            <a:avLst/>
          </a:prstGeom>
          <a:solidFill>
            <a:srgbClr val="F5E1E1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/>
            </a:pPr>
            <a:r>
              <a:rPr>
                <a:solidFill>
                  <a:srgbClr val="000000"/>
                </a:solidFill>
              </a:rPr>
              <a:t>Verified</a:t>
            </a:r>
          </a:p>
          <a:p>
            <a:pPr algn="ctr">
              <a:defRPr sz="1400" b="1"/>
            </a:pPr>
            <a:r>
              <a:rPr>
                <a:solidFill>
                  <a:srgbClr val="000000"/>
                </a:solidFill>
              </a:rPr>
              <a:t>→ Delete</a:t>
            </a:r>
          </a:p>
          <a:p>
            <a:pPr algn="ctr">
              <a:defRPr sz="1400" b="1"/>
            </a:pPr>
            <a:r>
              <a:rPr>
                <a:solidFill>
                  <a:srgbClr val="000000"/>
                </a:solidFill>
              </a:rPr>
              <a:t>LOCAL only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86000" y="2331720"/>
            <a:ext cx="640080" cy="73152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286000" y="3337560"/>
            <a:ext cx="640080" cy="91440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54880" y="3200400"/>
            <a:ext cx="73152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315200" y="3200400"/>
            <a:ext cx="73152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875520" y="3200400"/>
            <a:ext cx="36576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rPr>
                <a:solidFill>
                  <a:srgbClr val="000000"/>
                </a:solidFill>
              </a:rPr>
              <a:t>CameraNAS system plan • Mi 360 1080p + CP Plus CP-E35Q • Local delete only after verified cloud backup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C864"/>
                </a:solidFill>
              </a:defRPr>
            </a:pPr>
            <a:r>
              <a:t>NAS/Samba Setup &amp; Password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B4B4"/>
                </a:solidFill>
              </a:defRPr>
            </a:pPr>
            <a:r>
              <a:t>Samba share - how to set up, configure, and change password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CDCDC"/>
                </a:solidFill>
              </a:defRPr>
            </a:pPr>
            <a:r>
              <a:t>NAS = Network Attached Storage (Samba/SMB Share)</a:t>
            </a:r>
            <a:br/>
            <a:r>
              <a:t>==================================================</a:t>
            </a:r>
            <a:br/>
            <a:r>
              <a:t>WHAT IS NAS?</a:t>
            </a:r>
            <a:br/>
            <a:r>
              <a:t>- Samba share makes phone storage accessible on LAN</a:t>
            </a:r>
            <a:br/>
            <a:r>
              <a:t>- Other devices can access /CameraNAS via //PHONE_IP/CameraNAS</a:t>
            </a:r>
            <a:br/>
            <a:r>
              <a:t>- Stores all camera recordings centrally</a:t>
            </a:r>
            <a:br/>
            <a:br/>
            <a:r>
              <a:t>HOW TO SET UP (One Command):</a:t>
            </a:r>
            <a:br/>
            <a:r>
              <a:t>  bash run.sh --setup</a:t>
            </a:r>
            <a:br/>
            <a:r>
              <a:t>  OR: python app.py --setup</a:t>
            </a:r>
            <a:br/>
            <a:br/>
            <a:r>
              <a:t>WHAT SETUP.SH DOES FOR NAS:</a:t>
            </a:r>
            <a:br/>
            <a:r>
              <a:t>  1. Installs Samba: pkg install samba (Termux) / apt-get install samba (Linux)</a:t>
            </a:r>
            <a:br/>
            <a:r>
              <a:t>  2. Creates share directory: /CameraNAS or ~/storage/shared/CameraNAS</a:t>
            </a:r>
            <a:br/>
            <a:r>
              <a:t>  3. Creates smb.conf with share config</a:t>
            </a:r>
            <a:br/>
            <a:r>
              <a:t>  4. Creates Samba user: nasuser</a:t>
            </a:r>
            <a:br/>
            <a:r>
              <a:t>  5. Starts smbd service</a:t>
            </a:r>
            <a:br/>
            <a:br/>
            <a:r>
              <a:t>CREDENTIALS (.env file):</a:t>
            </a:r>
            <a:br/>
            <a:r>
              <a:t>  NAS_SMB_USER=nasuser</a:t>
            </a:r>
            <a:br/>
            <a:r>
              <a:t>  NAS_SMB_PASS=naspass123</a:t>
            </a:r>
            <a:br/>
            <a:r>
              <a:t>  NAS_SMB_SHARE=CameraNAS</a:t>
            </a:r>
            <a:br/>
            <a:br/>
            <a:r>
              <a:t>CHANGE NAS PASSWORD:</a:t>
            </a:r>
            <a:br/>
            <a:r>
              <a:t>  Method 1: Edit .env file</a:t>
            </a:r>
            <a:br/>
            <a:r>
              <a:t>    NAS_SMB_PASS=newpassword</a:t>
            </a:r>
            <a:br/>
            <a:r>
              <a:t>    Then run: python app.py --setup</a:t>
            </a:r>
            <a:br/>
            <a:br/>
            <a:r>
              <a:t>  Method 2: Command line</a:t>
            </a:r>
            <a:br/>
            <a:r>
              <a:t>    smbpasswd -a -s nasuser</a:t>
            </a:r>
            <a:br/>
            <a:r>
              <a:t>    (Enter new password twice)</a:t>
            </a:r>
            <a:br/>
            <a:br/>
            <a:r>
              <a:t>  Method 3: Python (inside system)</a:t>
            </a:r>
            <a:br/>
            <a:r>
              <a:t>    from camera_recorder.nas.nas_manager import NASManager</a:t>
            </a:r>
            <a:br/>
            <a:r>
              <a:t>    nas = NASManager()</a:t>
            </a:r>
            <a:br/>
            <a:r>
              <a:t>    nas.set_samba_password(username="nasuser", password="newpass")</a:t>
            </a:r>
            <a:br/>
            <a:r>
              <a:t>    nas.change_samba_password(new_password="newpass")</a:t>
            </a:r>
            <a:br/>
            <a:br/>
            <a:r>
              <a:t>ACCESS FROM OTHER DEVICE:</a:t>
            </a:r>
            <a:br/>
            <a:r>
              <a:t>  Windows:   \\PHONE_IP\CameraNAS</a:t>
            </a:r>
            <a:br/>
            <a:r>
              <a:t>  Linux:     smbclient //PHONE_IP/CameraNAS -U nasuser</a:t>
            </a:r>
            <a:br/>
            <a:r>
              <a:t>  Android:   File manager -&gt; LAN -&gt; //PHONE_IP/CameraNAS</a:t>
            </a:r>
            <a:b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864"/>
                </a:solidFill>
              </a:defRPr>
            </a:pPr>
            <a:r>
              <a:t>Scalable Multi-Camera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B4B4"/>
                </a:solidFill>
              </a:defRPr>
            </a:pPr>
            <a:r>
              <a:t>System supports unlimited cameras - not fixed at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CDCDC"/>
                </a:solidFill>
              </a:defRPr>
            </a:pPr>
            <a:r>
              <a:t>CAMERA REGISTRY SYSTEM</a:t>
            </a:r>
            <a:br/>
            <a:r>
              <a:t>==================================================</a:t>
            </a:r>
            <a:br/>
            <a:r>
              <a:t>Each camera registers with a unique ID:</a:t>
            </a:r>
            <a:br/>
            <a:br/>
            <a:r>
              <a:t>CAMERA_REGISTRY = {</a:t>
            </a:r>
            <a:br/>
            <a:r>
              <a:t>    "CAM_001": {</a:t>
            </a:r>
            <a:br/>
            <a:r>
              <a:t>        "name": "Mi 360 1080p",</a:t>
            </a:r>
            <a:br/>
            <a:r>
              <a:t>        "type": "mi_camera",</a:t>
            </a:r>
            <a:br/>
            <a:r>
              <a:t>        "recording": "microSD + NAS",</a:t>
            </a:r>
            <a:br/>
            <a:r>
              <a:t>        "storage_path": "/CameraNAS/Mi/",</a:t>
            </a:r>
            <a:br/>
            <a:r>
              <a:t>        "priority": "HIGH"</a:t>
            </a:r>
            <a:br/>
            <a:r>
              <a:t>    },</a:t>
            </a:r>
            <a:br/>
            <a:r>
              <a:t>    "CAM_002": {</a:t>
            </a:r>
            <a:br/>
            <a:r>
              <a:t>        "name": "CP Plus CP-E35Q",</a:t>
            </a:r>
            <a:br/>
            <a:r>
              <a:t>        "type": "ip_camera",</a:t>
            </a:r>
            <a:br/>
            <a:r>
              <a:t>        "recording": "RTSP/HEVC",</a:t>
            </a:r>
            <a:br/>
            <a:r>
              <a:t>        "storage_path": "/CameraNAS/CP-Plus/",</a:t>
            </a:r>
            <a:br/>
            <a:r>
              <a:t>        "priority": "HIGH"</a:t>
            </a:r>
            <a:br/>
            <a:r>
              <a:t>    },</a:t>
            </a:r>
            <a:br/>
            <a:r>
              <a:t>    "CAM_003": {   &lt;-- ADD ANY NEW CAMERA</a:t>
            </a:r>
            <a:br/>
            <a:r>
              <a:t>        "name": "[New Camera]",</a:t>
            </a:r>
            <a:br/>
            <a:r>
              <a:t>        "type": "[type]",</a:t>
            </a:r>
            <a:br/>
            <a:r>
              <a:t>        "recording": "[method]",</a:t>
            </a:r>
            <a:br/>
            <a:r>
              <a:t>        "storage_path": "/CameraNAS/CAM_003/",</a:t>
            </a:r>
            <a:br/>
            <a:r>
              <a:t>        "priority": "MEDIUM"</a:t>
            </a:r>
            <a:br/>
            <a:r>
              <a:t>    }</a:t>
            </a:r>
            <a:br/>
            <a:r>
              <a:t>}</a:t>
            </a:r>
            <a:br/>
            <a:br/>
            <a:r>
              <a:t>KEY RULES:</a:t>
            </a:r>
            <a:br/>
            <a:r>
              <a:t>+ Add camera -&gt; Register -&gt; Auto-configure storage path</a:t>
            </a:r>
            <a:br/>
            <a:r>
              <a:t>+ Each camera has SEPARATE status, logs, and backup tracking</a:t>
            </a:r>
            <a:br/>
            <a:r>
              <a:t>+ System auto-discovers cameras on same LAN/Wi-Fi</a:t>
            </a:r>
            <a:br/>
            <a:r>
              <a:t>+ No code change needed to add new camera - just register it</a:t>
            </a:r>
            <a:b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>
                <a:solidFill>
                  <a:srgbClr val="000000"/>
                </a:solidFill>
              </a:rPr>
              <a:t>Two cameras, two recording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rPr>
                <a:solidFill>
                  <a:srgbClr val="000000"/>
                </a:solidFill>
              </a:rPr>
              <a:t>Do not force the Mi camera into the CP Plus RTSP workflow.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029200" cy="4297680"/>
          </a:xfrm>
          <a:prstGeom prst="roundRect">
            <a:avLst/>
          </a:prstGeom>
          <a:solidFill>
            <a:srgbClr val="E1F0F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/>
            </a:pPr>
            <a:r>
              <a:rPr>
                <a:solidFill>
                  <a:srgbClr val="000000"/>
                </a:solidFill>
              </a:rPr>
              <a:t>MI 360 1080p</a:t>
            </a:r>
          </a:p>
          <a:p>
            <a:pPr algn="ctr">
              <a:defRPr sz="1800" b="1"/>
            </a:pPr>
          </a:p>
          <a:p>
            <a:pPr algn="ctr">
              <a:defRPr sz="1800" b="1"/>
            </a:pPr>
            <a:r>
              <a:rPr>
                <a:solidFill>
                  <a:srgbClr val="000000"/>
                </a:solidFill>
              </a:rPr>
              <a:t>microSD recording</a:t>
            </a:r>
          </a:p>
          <a:p>
            <a:pPr algn="ctr">
              <a:defRPr sz="1800" b="1"/>
            </a:pPr>
            <a:r>
              <a:rPr>
                <a:solidFill>
                  <a:srgbClr val="000000"/>
                </a:solidFill>
              </a:rPr>
              <a:t>        ↓</a:t>
            </a:r>
          </a:p>
          <a:p>
            <a:pPr algn="ctr">
              <a:defRPr sz="1800" b="1"/>
            </a:pPr>
            <a:r>
              <a:rPr>
                <a:solidFill>
                  <a:srgbClr val="000000"/>
                </a:solidFill>
              </a:rPr>
              <a:t>Mi Home → Native NAS backup</a:t>
            </a:r>
          </a:p>
          <a:p>
            <a:pPr algn="ctr">
              <a:defRPr sz="1800" b="1"/>
            </a:pPr>
            <a:r>
              <a:rPr>
                <a:solidFill>
                  <a:srgbClr val="000000"/>
                </a:solidFill>
              </a:rPr>
              <a:t>        ↓</a:t>
            </a:r>
          </a:p>
          <a:p>
            <a:pPr algn="ctr">
              <a:defRPr sz="1800" b="1"/>
            </a:pPr>
            <a:r>
              <a:rPr>
                <a:solidFill>
                  <a:srgbClr val="000000"/>
                </a:solidFill>
              </a:rPr>
              <a:t>Phone SMB/Samba NAS</a:t>
            </a:r>
          </a:p>
          <a:p>
            <a:pPr algn="ctr">
              <a:defRPr sz="1800" b="1"/>
            </a:pPr>
            <a:r>
              <a:rPr>
                <a:solidFill>
                  <a:srgbClr val="000000"/>
                </a:solidFill>
              </a:rPr>
              <a:t>        ↓</a:t>
            </a:r>
          </a:p>
          <a:p>
            <a:pPr algn="ctr">
              <a:defRPr sz="1800" b="1"/>
            </a:pPr>
            <a:r>
              <a:rPr>
                <a:solidFill>
                  <a:srgbClr val="000000"/>
                </a:solidFill>
              </a:rPr>
              <a:t>CameraNAS/Mi</a:t>
            </a:r>
          </a:p>
          <a:p>
            <a:pPr algn="ctr">
              <a:defRPr sz="1800" b="1"/>
            </a:pPr>
            <a:r>
              <a:rPr>
                <a:solidFill>
                  <a:srgbClr val="000000"/>
                </a:solidFill>
              </a:rPr>
              <a:t>        ↓</a:t>
            </a:r>
          </a:p>
          <a:p>
            <a:pPr algn="ctr">
              <a:defRPr sz="1800" b="1"/>
            </a:pPr>
            <a:r>
              <a:rPr>
                <a:solidFill>
                  <a:srgbClr val="000000"/>
                </a:solidFill>
              </a:rPr>
              <a:t>Google Photos</a:t>
            </a:r>
          </a:p>
          <a:p>
            <a:pPr algn="ctr">
              <a:defRPr sz="1800" b="1"/>
            </a:pPr>
            <a:r>
              <a:rPr>
                <a:solidFill>
                  <a:srgbClr val="000000"/>
                </a:solidFill>
              </a:rPr>
              <a:t>        ↓</a:t>
            </a:r>
          </a:p>
          <a:p>
            <a:pPr algn="ctr">
              <a:defRPr sz="1800" b="1"/>
            </a:pPr>
            <a:r>
              <a:rPr>
                <a:solidFill>
                  <a:srgbClr val="000000"/>
                </a:solidFill>
              </a:rPr>
              <a:t>Backup confirmed</a:t>
            </a:r>
          </a:p>
          <a:p>
            <a:pPr algn="ctr">
              <a:defRPr sz="1800" b="1"/>
            </a:pPr>
            <a:r>
              <a:rPr>
                <a:solidFill>
                  <a:srgbClr val="000000"/>
                </a:solidFill>
              </a:rPr>
              <a:t>        ↓</a:t>
            </a:r>
          </a:p>
          <a:p>
            <a:pPr algn="ctr">
              <a:defRPr sz="1800" b="1"/>
            </a:pPr>
            <a:r>
              <a:rPr>
                <a:solidFill>
                  <a:srgbClr val="000000"/>
                </a:solidFill>
              </a:rPr>
              <a:t>Delete phone-local copy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463040"/>
            <a:ext cx="5029200" cy="4297680"/>
          </a:xfrm>
          <a:prstGeom prst="roundRect">
            <a:avLst/>
          </a:prstGeom>
          <a:solidFill>
            <a:srgbClr val="F0E6F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/>
            </a:pPr>
            <a:r>
              <a:rPr>
                <a:solidFill>
                  <a:srgbClr val="000000"/>
                </a:solidFill>
              </a:rPr>
              <a:t>CP PLUS CP-E35Q</a:t>
            </a:r>
          </a:p>
          <a:p>
            <a:pPr algn="ctr">
              <a:defRPr sz="1800" b="1"/>
            </a:pPr>
          </a:p>
          <a:p>
            <a:pPr algn="ctr">
              <a:defRPr sz="1800" b="1"/>
            </a:pPr>
            <a:r>
              <a:rPr>
                <a:solidFill>
                  <a:srgbClr val="000000"/>
                </a:solidFill>
              </a:rPr>
              <a:t>RTSP stream</a:t>
            </a:r>
          </a:p>
          <a:p>
            <a:pPr algn="ctr">
              <a:defRPr sz="1800" b="1"/>
            </a:pPr>
            <a:r>
              <a:rPr>
                <a:solidFill>
                  <a:srgbClr val="000000"/>
                </a:solidFill>
              </a:rPr>
              <a:t>        ↓</a:t>
            </a:r>
          </a:p>
          <a:p>
            <a:pPr algn="ctr">
              <a:defRPr sz="1800" b="1"/>
            </a:pPr>
            <a:r>
              <a:rPr>
                <a:solidFill>
                  <a:srgbClr val="000000"/>
                </a:solidFill>
              </a:rPr>
              <a:t>FFmpeg</a:t>
            </a:r>
          </a:p>
          <a:p>
            <a:pPr algn="ctr">
              <a:defRPr sz="1800" b="1"/>
            </a:pPr>
            <a:r>
              <a:rPr>
                <a:solidFill>
                  <a:srgbClr val="000000"/>
                </a:solidFill>
              </a:rPr>
              <a:t>        ↓</a:t>
            </a:r>
          </a:p>
          <a:p>
            <a:pPr algn="ctr">
              <a:defRPr sz="1800" b="1"/>
            </a:pPr>
            <a:r>
              <a:rPr>
                <a:solidFill>
                  <a:srgbClr val="000000"/>
                </a:solidFill>
              </a:rPr>
              <a:t>1-minute MP4 segments</a:t>
            </a:r>
          </a:p>
          <a:p>
            <a:pPr algn="ctr">
              <a:defRPr sz="1800" b="1"/>
            </a:pPr>
            <a:r>
              <a:rPr>
                <a:solidFill>
                  <a:srgbClr val="000000"/>
                </a:solidFill>
              </a:rPr>
              <a:t>        ↓</a:t>
            </a:r>
          </a:p>
          <a:p>
            <a:pPr algn="ctr">
              <a:defRPr sz="1800" b="1"/>
            </a:pPr>
            <a:r>
              <a:rPr>
                <a:solidFill>
                  <a:srgbClr val="000000"/>
                </a:solidFill>
              </a:rPr>
              <a:t>CameraNAS/CP-Plus</a:t>
            </a:r>
          </a:p>
          <a:p>
            <a:pPr algn="ctr">
              <a:defRPr sz="1800" b="1"/>
            </a:pPr>
            <a:r>
              <a:rPr>
                <a:solidFill>
                  <a:srgbClr val="000000"/>
                </a:solidFill>
              </a:rPr>
              <a:t>        ↓</a:t>
            </a:r>
          </a:p>
          <a:p>
            <a:pPr algn="ctr">
              <a:defRPr sz="1800" b="1"/>
            </a:pPr>
            <a:r>
              <a:rPr>
                <a:solidFill>
                  <a:srgbClr val="000000"/>
                </a:solidFill>
              </a:rPr>
              <a:t>Google Photos</a:t>
            </a:r>
          </a:p>
          <a:p>
            <a:pPr algn="ctr">
              <a:defRPr sz="1800" b="1"/>
            </a:pPr>
            <a:r>
              <a:rPr>
                <a:solidFill>
                  <a:srgbClr val="000000"/>
                </a:solidFill>
              </a:rPr>
              <a:t>        ↓</a:t>
            </a:r>
          </a:p>
          <a:p>
            <a:pPr algn="ctr">
              <a:defRPr sz="1800" b="1"/>
            </a:pPr>
            <a:r>
              <a:rPr>
                <a:solidFill>
                  <a:srgbClr val="000000"/>
                </a:solidFill>
              </a:rPr>
              <a:t>Backup confirmed</a:t>
            </a:r>
          </a:p>
          <a:p>
            <a:pPr algn="ctr">
              <a:defRPr sz="1800" b="1"/>
            </a:pPr>
            <a:r>
              <a:rPr>
                <a:solidFill>
                  <a:srgbClr val="000000"/>
                </a:solidFill>
              </a:rPr>
              <a:t>        ↓</a:t>
            </a:r>
          </a:p>
          <a:p>
            <a:pPr algn="ctr">
              <a:defRPr sz="1800" b="1"/>
            </a:pPr>
            <a:r>
              <a:rPr>
                <a:solidFill>
                  <a:srgbClr val="000000"/>
                </a:solidFill>
              </a:rPr>
              <a:t>Delete phone-local copy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rPr>
                <a:solidFill>
                  <a:srgbClr val="000000"/>
                </a:solidFill>
              </a:rPr>
              <a:t>CameraNAS system plan • Mi 360 1080p + CP Plus CP-E35Q • Local delete only after verified cloud backup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C864"/>
                </a:solidFill>
              </a:defRPr>
            </a:pPr>
            <a:r>
              <a:t>Complete System Flow - Camera Detection to 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B4B4"/>
                </a:solidFill>
              </a:defRPr>
            </a:pPr>
            <a:r>
              <a:t>From zero to fully automated recording in 10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DCDC"/>
                </a:solidFill>
              </a:defRPr>
            </a:pPr>
            <a:r>
              <a:t>COMPLETE FLOW (Step by Step):</a:t>
            </a:r>
            <a:br/>
            <a:r>
              <a:t>==================================================</a:t>
            </a:r>
            <a:br/>
            <a:br/>
            <a:r>
              <a:t>STEP 1: SETUP (bash run.sh --setup)</a:t>
            </a:r>
            <a:br/>
            <a:r>
              <a:t>  -&gt; Installs FFmpeg, Samba, Python deps</a:t>
            </a:r>
            <a:br/>
            <a:r>
              <a:t>  -&gt; Creates folder structure</a:t>
            </a:r>
            <a:br/>
            <a:r>
              <a:t>  -&gt; Initializes SQLite database</a:t>
            </a:r>
            <a:br/>
            <a:r>
              <a:t>  -&gt; Copies .env and config.json</a:t>
            </a:r>
            <a:br/>
            <a:r>
              <a:t>  -&gt; Detects storage dynamically</a:t>
            </a:r>
            <a:br/>
            <a:br/>
            <a:r>
              <a:t>STEP 2: CAMERA DETECTION (Auto)</a:t>
            </a:r>
            <a:br/>
            <a:r>
              <a:t>  -&gt; System scans LAN/Wi-Fi for RTSP/Mi Home devices</a:t>
            </a:r>
            <a:br/>
            <a:r>
              <a:t>  -&gt; Each camera registers: CAM_001, CAM_002, CAM_003...</a:t>
            </a:r>
            <a:br/>
            <a:r>
              <a:t>  -&gt; Reads RTSP URL from .env file</a:t>
            </a:r>
            <a:br/>
            <a:r>
              <a:t>  -&gt; Reads Mi Home API credentials from config</a:t>
            </a:r>
            <a:br/>
            <a:r>
              <a:t>  -&gt; Auto-configures storage path for each camera</a:t>
            </a:r>
            <a:br/>
            <a:br/>
            <a:r>
              <a:t>STEP 3: RECORDING STARTS (Automatic)</a:t>
            </a:r>
            <a:br/>
            <a:r>
              <a:t>  CP Plus CP-E35Q:</a:t>
            </a:r>
            <a:br/>
            <a:r>
              <a:t>    -&gt; Reads RTSP_URL from .env</a:t>
            </a:r>
            <a:br/>
            <a:r>
              <a:t>    -&gt; FFmpeg: ffmpeg -rtsp_transport tcp -i [URL] -map 0:v:0 -map 0:a:0 -c:v copy -c:a aac -f segment -segment_time 60</a:t>
            </a:r>
            <a:br/>
            <a:r>
              <a:t>    -&gt; Creates 1-minute MP4 segments CONTINUOUSLY (no -t 60!)</a:t>
            </a:r>
            <a:br/>
            <a:r>
              <a:t>    -&gt; If RTSP drops -&gt; Auto-reconnect (up to 10x)</a:t>
            </a:r>
            <a:br/>
            <a:br/>
            <a:r>
              <a:t>  Mi 360 1080p:</a:t>
            </a:r>
            <a:br/>
            <a:r>
              <a:t>    -&gt; Mi Home app captures</a:t>
            </a:r>
            <a:br/>
            <a:r>
              <a:t>    -&gt; microSD -&gt; NAS transfer</a:t>
            </a:r>
            <a:br/>
            <a:r>
              <a:t>    -&gt; Organized into /CameraNAS/Mi/YYYY-MM-DD/HH-00_to_HH-59/Footage/</a:t>
            </a:r>
            <a:br/>
            <a:br/>
            <a:r>
              <a:t>STEP 4: FILE ORGANIZATION</a:t>
            </a:r>
            <a:br/>
            <a:r>
              <a:t>  -&gt; Files stored: /CameraNAS/CP-Plus/YYYY-MM-DD/HH-00_to_HH-59/Footage/segment_001.mp4</a:t>
            </a:r>
            <a:br/>
            <a:r>
              <a:t>  -&gt; Each segment = 60 seconds of video</a:t>
            </a:r>
            <a:br/>
            <a:r>
              <a:t>  -&gt; Files named by date/hour</a:t>
            </a:r>
            <a:br/>
            <a:br/>
            <a:r>
              <a:t>STEP 5: GOOGLE PHOTOS BACKUP</a:t>
            </a:r>
            <a:br/>
            <a:r>
              <a:t>  -&gt; BackupManager checks each completed file</a:t>
            </a:r>
            <a:br/>
            <a:r>
              <a:t>  -&gt; Uploads to Google Photos</a:t>
            </a:r>
            <a:br/>
            <a:r>
              <a:t>  -&gt; Verifies backup status</a:t>
            </a:r>
            <a:br/>
            <a:r>
              <a:t>  -&gt; RETRY if failed (up to 5 times, 5 min delay)</a:t>
            </a:r>
            <a:br/>
            <a:br/>
            <a:r>
              <a:t>STEP 6: VERIFICATION</a:t>
            </a:r>
            <a:br/>
            <a:r>
              <a:t>  -&gt; Confirmed backup = VERIFIED</a:t>
            </a:r>
            <a:br/>
            <a:r>
              <a:t>  -&gt; Backup not confirmed = KEEP LOCAL, retry later</a:t>
            </a:r>
            <a:br/>
            <a:br/>
            <a:r>
              <a:t>STEP 7: LOCAL DELETE (ONLY AFTER VERIFIED)</a:t>
            </a:r>
            <a:br/>
            <a:r>
              <a:t>  -&gt; Only if backup_status = CONFIRMED</a:t>
            </a:r>
            <a:br/>
            <a:r>
              <a:t>  -&gt; Only if local_delete_allowed = 1</a:t>
            </a:r>
            <a:br/>
            <a:r>
              <a:t>  -&gt; Google Photos copy NEVER deleted</a:t>
            </a:r>
            <a:br/>
            <a:br/>
            <a:r>
              <a:t>STEP 8: STORAGE MONITORING</a:t>
            </a:r>
            <a:br/>
            <a:r>
              <a:t>  -&gt; Checks free space every 5 minutes</a:t>
            </a:r>
            <a:br/>
            <a:r>
              <a:t>  &gt; 25% free = NORMAL</a:t>
            </a:r>
            <a:br/>
            <a:r>
              <a:t>  &lt; 25% free = LOW -&gt; prepare cleanup</a:t>
            </a:r>
            <a:br/>
            <a:r>
              <a:t>  &lt; 15% free = CRITICAL -&gt; emergency cleanup</a:t>
            </a:r>
            <a:br/>
            <a:r>
              <a:t>  -&gt; Dynamic thresholds based on total storage</a:t>
            </a:r>
            <a:br/>
            <a:br/>
            <a:r>
              <a:t>STEP 9: CLEANUP</a:t>
            </a:r>
            <a:br/>
            <a:r>
              <a:t>  -&gt; Deletes ONLY verified + completed files</a:t>
            </a:r>
            <a:br/>
            <a:r>
              <a:t>  -&gt; Never touches active recordings</a:t>
            </a:r>
            <a:br/>
            <a:r>
              <a:t>  -&gt; Respects minimum retention (24 hours)</a:t>
            </a:r>
            <a:br/>
            <a:br/>
            <a:r>
              <a:t>STEP 10: RECOVERY AFTER RESTART</a:t>
            </a:r>
            <a:br/>
            <a:r>
              <a:t>  -&gt; SQLite has all pending work</a:t>
            </a:r>
            <a:br/>
            <a:r>
              <a:t>  -&gt; Resumes incomplete recordings</a:t>
            </a:r>
            <a:br/>
            <a:r>
              <a:t>  -&gt; Retries failed backups</a:t>
            </a:r>
            <a:br/>
            <a:r>
              <a:t>  -&gt; Continues cleanup if needed</a:t>
            </a:r>
            <a:b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C864"/>
                </a:solidFill>
              </a:defRPr>
            </a:pPr>
            <a:r>
              <a:t>Adding New Camera &amp; .env File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B4B4"/>
                </a:solidFill>
              </a:defRPr>
            </a:pPr>
            <a:r>
              <a:t>Everything about camera registration and credentials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CDCDC"/>
                </a:solidFill>
              </a:defRPr>
            </a:pPr>
            <a:r>
              <a:t>ADDING A NEW CAMERA:</a:t>
            </a:r>
            <a:br/>
            <a:r>
              <a:t>==================================================</a:t>
            </a:r>
            <a:br/>
            <a:r>
              <a:t>1. Connect camera to same Wi-Fi/LAN</a:t>
            </a:r>
            <a:br/>
            <a:r>
              <a:t>2. Power on camera</a:t>
            </a:r>
            <a:br/>
            <a:r>
              <a:t>3. Edit camera_registry in config.json:</a:t>
            </a:r>
            <a:br/>
            <a:r>
              <a:t>   {</a:t>
            </a:r>
            <a:br/>
            <a:r>
              <a:t>     "CAM_003": {</a:t>
            </a:r>
            <a:br/>
            <a:r>
              <a:t>       "name": "New Camera Name",</a:t>
            </a:r>
            <a:br/>
            <a:r>
              <a:t>       "type": "mi_camera/ip_camera",</a:t>
            </a:r>
            <a:br/>
            <a:r>
              <a:t>       "protocol": "Mi Home API/FFmpeg",</a:t>
            </a:r>
            <a:br/>
            <a:r>
              <a:t>       "storage_path": "/CameraNAS/CAM_003/",</a:t>
            </a:r>
            <a:br/>
            <a:r>
              <a:t>       "priority": "MEDIUM/HIGH",</a:t>
            </a:r>
            <a:br/>
            <a:r>
              <a:t>       "enabled": true</a:t>
            </a:r>
            <a:br/>
            <a:r>
              <a:t>     }</a:t>
            </a:r>
            <a:br/>
            <a:r>
              <a:t>   }</a:t>
            </a:r>
            <a:br/>
            <a:r>
              <a:t>4. For RTSP camera, also add to .env:</a:t>
            </a:r>
            <a:br/>
            <a:r>
              <a:t>   RTSP_URL=rtsp://user:pass@IP:PORT/CHANNEL</a:t>
            </a:r>
            <a:br/>
            <a:r>
              <a:t>5. Run: python app.py (auto-discovers)</a:t>
            </a:r>
            <a:br/>
            <a:br/>
            <a:r>
              <a:t>CAMERA TYPES:</a:t>
            </a:r>
            <a:br/>
            <a:r>
              <a:t>  mi_camera  -&gt; Mi Home API, microSD recording</a:t>
            </a:r>
            <a:br/>
            <a:r>
              <a:t>  ip_camera  -&gt; RTSP stream via FFmpeg</a:t>
            </a:r>
            <a:br/>
            <a:r>
              <a:t>  ANY TYPE   -&gt; Just register in camera_registry</a:t>
            </a:r>
            <a:br/>
            <a:br/>
            <a:r>
              <a:t>.env FILE LOCATION:</a:t>
            </a:r>
            <a:br/>
            <a:r>
              <a:t>  Path: camera_recorder/system/config/.env</a:t>
            </a:r>
            <a:br/>
            <a:r>
              <a:t>  NEVER in Python code!</a:t>
            </a:r>
            <a:br/>
            <a:r>
              <a:t>  Contains ALL credentials:</a:t>
            </a:r>
            <a:br/>
            <a:r>
              <a:t>    - RTSP_URL (camera stream URL)</a:t>
            </a:r>
            <a:br/>
            <a:r>
              <a:t>    - NAS_SMB_USER / NAS_SMB_PASS (Samba credentials)</a:t>
            </a:r>
            <a:br/>
            <a:r>
              <a:t>    - CP_RTSP_USER / CP_RTSP_PASSWORD</a:t>
            </a:r>
            <a:br/>
            <a:r>
              <a:t>    - All system settings</a:t>
            </a:r>
            <a:br/>
            <a:br/>
            <a:r>
              <a:t>TO CHANGE .env:</a:t>
            </a:r>
            <a:br/>
            <a:r>
              <a:t>  1. Edit: camera_recorder/system/config/.env</a:t>
            </a:r>
            <a:br/>
            <a:r>
              <a:t>  2. Save file</a:t>
            </a:r>
            <a:br/>
            <a:r>
              <a:t>  3. Restart system: bash run.sh</a:t>
            </a:r>
            <a:br/>
            <a:r>
              <a:t>  (Changes applied at startup, NOT mid-recording)</a:t>
            </a:r>
            <a:br/>
            <a:br/>
            <a:r>
              <a:t>TO RESET EVERYTHING:</a:t>
            </a:r>
            <a:br/>
            <a:r>
              <a:t>  1. Delete camera_recorder/system/config/.env</a:t>
            </a:r>
            <a:br/>
            <a:r>
              <a:t>  2. Run: bash run.sh --setup</a:t>
            </a:r>
            <a:br/>
            <a:r>
              <a:t>  3. Edit .env with new credentials</a:t>
            </a:r>
            <a:br/>
            <a:r>
              <a:t>  4. Run: bash run.sh</a:t>
            </a:r>
            <a:b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>
                <a:solidFill>
                  <a:srgbClr val="000000"/>
                </a:solidFill>
              </a:rPr>
              <a:t>Phone storage and NAS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rPr>
                <a:solidFill>
                  <a:srgbClr val="000000"/>
                </a:solidFill>
              </a:rPr>
              <a:t>Recordings live in Android shared storage, not Termux-private storage.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303520" cy="914400"/>
          </a:xfrm>
          <a:prstGeom prst="roundRect">
            <a:avLst/>
          </a:prstGeom>
          <a:solidFill>
            <a:srgbClr val="E1F5E1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/>
            </a:pPr>
            <a:r>
              <a:rPr>
                <a:solidFill>
                  <a:srgbClr val="000000"/>
                </a:solidFill>
              </a:rPr>
              <a:t>/storage/emulated/0/CameraNAS/</a:t>
            </a:r>
          </a:p>
          <a:p>
            <a:pPr algn="ctr">
              <a:defRPr sz="1600" b="1"/>
            </a:pPr>
            <a:r>
              <a:rPr>
                <a:solidFill>
                  <a:srgbClr val="000000"/>
                </a:solidFill>
              </a:rPr>
              <a:t>Termux: ~/storage/shared/CameraNAS/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2377440" cy="2286000"/>
          </a:xfrm>
          <a:prstGeom prst="roundRect">
            <a:avLst/>
          </a:prstGeom>
          <a:solidFill>
            <a:srgbClr val="EBF0F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/>
            </a:pPr>
            <a:r>
              <a:rPr>
                <a:solidFill>
                  <a:srgbClr val="000000"/>
                </a:solidFill>
              </a:rPr>
              <a:t>Mi/</a:t>
            </a:r>
          </a:p>
          <a:p>
            <a:pPr algn="ctr">
              <a:defRPr sz="1500" b="1"/>
            </a:pPr>
            <a:r>
              <a:rPr>
                <a:solidFill>
                  <a:srgbClr val="000000"/>
                </a:solidFill>
              </a:rPr>
              <a:t>└─ YYYY-MM-DD/</a:t>
            </a:r>
          </a:p>
          <a:p>
            <a:pPr algn="ctr">
              <a:defRPr sz="1500" b="1"/>
            </a:pPr>
            <a:r>
              <a:rPr>
                <a:solidFill>
                  <a:srgbClr val="000000"/>
                </a:solidFill>
              </a:rPr>
              <a:t>   └─ HH-00_to_HH-59/</a:t>
            </a:r>
          </a:p>
          <a:p>
            <a:pPr algn="ctr">
              <a:defRPr sz="1500" b="1"/>
            </a:pPr>
            <a:r>
              <a:rPr>
                <a:solidFill>
                  <a:srgbClr val="000000"/>
                </a:solidFill>
              </a:rPr>
              <a:t>      └─ Footage/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2468880"/>
            <a:ext cx="2377440" cy="2286000"/>
          </a:xfrm>
          <a:prstGeom prst="roundRect">
            <a:avLst/>
          </a:prstGeom>
          <a:solidFill>
            <a:srgbClr val="F0EBF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/>
            </a:pPr>
            <a:r>
              <a:rPr>
                <a:solidFill>
                  <a:srgbClr val="000000"/>
                </a:solidFill>
              </a:rPr>
              <a:t>CP-Plus/</a:t>
            </a:r>
          </a:p>
          <a:p>
            <a:pPr algn="ctr">
              <a:defRPr sz="1500" b="1"/>
            </a:pPr>
            <a:r>
              <a:rPr>
                <a:solidFill>
                  <a:srgbClr val="000000"/>
                </a:solidFill>
              </a:rPr>
              <a:t>└─ YYYY-MM-DD/</a:t>
            </a:r>
          </a:p>
          <a:p>
            <a:pPr algn="ctr">
              <a:defRPr sz="1500" b="1"/>
            </a:pPr>
            <a:r>
              <a:rPr>
                <a:solidFill>
                  <a:srgbClr val="000000"/>
                </a:solidFill>
              </a:rPr>
              <a:t>   └─ HH-00_to_HH-59/</a:t>
            </a:r>
          </a:p>
          <a:p>
            <a:pPr algn="ctr">
              <a:defRPr sz="1500" b="1"/>
            </a:pPr>
            <a:r>
              <a:rPr>
                <a:solidFill>
                  <a:srgbClr val="000000"/>
                </a:solidFill>
              </a:rPr>
              <a:t>      └─ Footage/</a:t>
            </a:r>
          </a:p>
          <a:p>
            <a:pPr algn="ctr">
              <a:defRPr sz="1500" b="1"/>
            </a:pPr>
            <a:r>
              <a:rPr>
                <a:solidFill>
                  <a:srgbClr val="000000"/>
                </a:solidFill>
              </a:rPr>
              <a:t>         └─ *.mp4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468880"/>
            <a:ext cx="2377440" cy="2286000"/>
          </a:xfrm>
          <a:prstGeom prst="roundRect">
            <a:avLst/>
          </a:prstGeom>
          <a:solidFill>
            <a:srgbClr val="FAF5DC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/>
            </a:pPr>
            <a:r>
              <a:rPr>
                <a:solidFill>
                  <a:srgbClr val="000000"/>
                </a:solidFill>
              </a:rPr>
              <a:t>system/</a:t>
            </a:r>
          </a:p>
          <a:p>
            <a:pPr algn="ctr">
              <a:defRPr sz="1400" b="1"/>
            </a:pPr>
            <a:r>
              <a:rPr>
                <a:solidFill>
                  <a:srgbClr val="000000"/>
                </a:solidFill>
              </a:rPr>
              <a:t>├─ database/</a:t>
            </a:r>
          </a:p>
          <a:p>
            <a:pPr algn="ctr">
              <a:defRPr sz="1400" b="1"/>
            </a:pPr>
            <a:r>
              <a:rPr>
                <a:solidFill>
                  <a:srgbClr val="000000"/>
                </a:solidFill>
              </a:rPr>
              <a:t>│  └─ camera.db</a:t>
            </a:r>
          </a:p>
          <a:p>
            <a:pPr algn="ctr">
              <a:defRPr sz="1400" b="1"/>
            </a:pPr>
            <a:r>
              <a:rPr>
                <a:solidFill>
                  <a:srgbClr val="000000"/>
                </a:solidFill>
              </a:rPr>
              <a:t>└─ logs/</a:t>
            </a:r>
          </a:p>
          <a:p>
            <a:pPr algn="ctr">
              <a:defRPr sz="1400" b="1"/>
            </a:pPr>
            <a:r>
              <a:rPr>
                <a:solidFill>
                  <a:srgbClr val="000000"/>
                </a:solidFill>
              </a:rPr>
              <a:t>   ├─ cpplus.log</a:t>
            </a:r>
          </a:p>
          <a:p>
            <a:pPr algn="ctr">
              <a:defRPr sz="1400" b="1"/>
            </a:pPr>
            <a:r>
              <a:rPr>
                <a:solidFill>
                  <a:srgbClr val="000000"/>
                </a:solidFill>
              </a:rPr>
              <a:t>   ├─ mi_nas.log</a:t>
            </a:r>
          </a:p>
          <a:p>
            <a:pPr algn="ctr">
              <a:defRPr sz="1400" b="1"/>
            </a:pPr>
            <a:r>
              <a:rPr>
                <a:solidFill>
                  <a:srgbClr val="000000"/>
                </a:solidFill>
              </a:rPr>
              <a:t>   ├─ google_backup.log</a:t>
            </a:r>
          </a:p>
          <a:p>
            <a:pPr algn="ctr">
              <a:defRPr sz="1400" b="1"/>
            </a:pPr>
            <a:r>
              <a:rPr>
                <a:solidFill>
                  <a:srgbClr val="000000"/>
                </a:solidFill>
              </a:rPr>
              <a:t>   └─ storage.log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2468880"/>
            <a:ext cx="2194560" cy="2286000"/>
          </a:xfrm>
          <a:prstGeom prst="roundRect">
            <a:avLst/>
          </a:prstGeom>
          <a:solidFill>
            <a:srgbClr val="E1F0F5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/>
            </a:pPr>
            <a:r>
              <a:rPr>
                <a:solidFill>
                  <a:srgbClr val="000000"/>
                </a:solidFill>
              </a:rPr>
              <a:t>NAS share</a:t>
            </a:r>
          </a:p>
          <a:p>
            <a:pPr algn="ctr">
              <a:defRPr sz="1500" b="1"/>
            </a:pPr>
          </a:p>
          <a:p>
            <a:pPr algn="ctr">
              <a:defRPr sz="1500" b="1"/>
            </a:pPr>
            <a:r>
              <a:rPr>
                <a:solidFill>
                  <a:srgbClr val="000000"/>
                </a:solidFill>
              </a:rPr>
              <a:t>Samba/SMB</a:t>
            </a:r>
          </a:p>
          <a:p>
            <a:pPr algn="ctr">
              <a:defRPr sz="1500" b="1"/>
            </a:pPr>
          </a:p>
          <a:p>
            <a:pPr algn="ctr">
              <a:defRPr sz="1500" b="1"/>
            </a:pPr>
            <a:r>
              <a:rPr>
                <a:solidFill>
                  <a:srgbClr val="000000"/>
                </a:solidFill>
              </a:rPr>
              <a:t>Mi camera connects</a:t>
            </a:r>
          </a:p>
          <a:p>
            <a:pPr algn="ctr">
              <a:defRPr sz="1500" b="1"/>
            </a:pPr>
            <a:r>
              <a:rPr>
                <a:solidFill>
                  <a:srgbClr val="000000"/>
                </a:solidFill>
              </a:rPr>
              <a:t>on same LAN/Wi-Fi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rPr>
                <a:solidFill>
                  <a:srgbClr val="000000"/>
                </a:solidFill>
              </a:rPr>
              <a:t>CameraNAS system plan • Mi 360 1080p + CP Plus CP-E35Q • Local delete only after verified cloud backup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>
                <a:solidFill>
                  <a:srgbClr val="000000"/>
                </a:solidFill>
              </a:rPr>
              <a:t>Safe file lifecycle — the key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rPr>
                <a:solidFill>
                  <a:srgbClr val="000000"/>
                </a:solidFill>
              </a:rPr>
              <a:t>A local file is never deleted merely because it exists in Google Photos.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594360" cy="502920"/>
          </a:xfrm>
          <a:prstGeom prst="roundRect">
            <a:avLst/>
          </a:prstGeom>
          <a:solidFill>
            <a:srgbClr val="E6E6E6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/>
            </a:pPr>
            <a:r>
              <a:rPr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143000"/>
            <a:ext cx="2560320" cy="502920"/>
          </a:xfrm>
          <a:prstGeom prst="roundRect">
            <a:avLst/>
          </a:prstGeom>
          <a:solidFill>
            <a:srgbClr val="E1F0F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/>
            </a:pPr>
            <a:r>
              <a:rPr>
                <a:solidFill>
                  <a:srgbClr val="000000"/>
                </a:solidFill>
              </a:rPr>
              <a:t>Recording complete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143000"/>
            <a:ext cx="7040880" cy="502920"/>
          </a:xfrm>
          <a:prstGeom prst="roundRect">
            <a:avLst/>
          </a:prstGeom>
          <a:solidFill>
            <a:srgbClr val="F7F7F7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/>
            </a:pPr>
            <a:r>
              <a:rPr>
                <a:solidFill>
                  <a:srgbClr val="000000"/>
                </a:solidFill>
              </a:rPr>
              <a:t>File must be fully written.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594360" cy="502920"/>
          </a:xfrm>
          <a:prstGeom prst="roundRect">
            <a:avLst/>
          </a:prstGeom>
          <a:solidFill>
            <a:srgbClr val="E6E6E6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/>
            </a:pPr>
            <a:r>
              <a:rPr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1965960"/>
            <a:ext cx="2560320" cy="502920"/>
          </a:xfrm>
          <a:prstGeom prst="roundRect">
            <a:avLst/>
          </a:prstGeom>
          <a:solidFill>
            <a:srgbClr val="E1F0F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/>
            </a:pPr>
            <a:r>
              <a:rPr>
                <a:solidFill>
                  <a:srgbClr val="000000"/>
                </a:solidFill>
              </a:rPr>
              <a:t>Local file stable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965960"/>
            <a:ext cx="7040880" cy="502920"/>
          </a:xfrm>
          <a:prstGeom prst="roundRect">
            <a:avLst/>
          </a:prstGeom>
          <a:solidFill>
            <a:srgbClr val="F7F7F7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/>
            </a:pPr>
            <a:r>
              <a:rPr>
                <a:solidFill>
                  <a:srgbClr val="000000"/>
                </a:solidFill>
              </a:rPr>
              <a:t>No camera/NAS/FFmpeg process may still be writing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88920"/>
            <a:ext cx="594360" cy="502920"/>
          </a:xfrm>
          <a:prstGeom prst="roundRect">
            <a:avLst/>
          </a:prstGeom>
          <a:solidFill>
            <a:srgbClr val="E6E6E6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/>
            </a:pPr>
            <a:r>
              <a:rPr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2788920"/>
            <a:ext cx="2560320" cy="502920"/>
          </a:xfrm>
          <a:prstGeom prst="roundRect">
            <a:avLst/>
          </a:prstGeom>
          <a:solidFill>
            <a:srgbClr val="E1F0F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/>
            </a:pPr>
            <a:r>
              <a:rPr>
                <a:solidFill>
                  <a:srgbClr val="000000"/>
                </a:solidFill>
              </a:rPr>
              <a:t>Backup attempt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2788920"/>
            <a:ext cx="7040880" cy="502920"/>
          </a:xfrm>
          <a:prstGeom prst="roundRect">
            <a:avLst/>
          </a:prstGeom>
          <a:solidFill>
            <a:srgbClr val="F7F7F7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/>
            </a:pPr>
            <a:r>
              <a:rPr>
                <a:solidFill>
                  <a:srgbClr val="000000"/>
                </a:solidFill>
              </a:rPr>
              <a:t>Google Photos backup is allowed to run.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11880"/>
            <a:ext cx="594360" cy="502920"/>
          </a:xfrm>
          <a:prstGeom prst="roundRect">
            <a:avLst/>
          </a:prstGeom>
          <a:solidFill>
            <a:srgbClr val="E6E6E6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/>
            </a:pPr>
            <a:r>
              <a:rPr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3611880"/>
            <a:ext cx="2560320" cy="502920"/>
          </a:xfrm>
          <a:prstGeom prst="roundRect">
            <a:avLst/>
          </a:prstGeom>
          <a:solidFill>
            <a:srgbClr val="E1F0F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/>
            </a:pPr>
            <a:r>
              <a:rPr>
                <a:solidFill>
                  <a:srgbClr val="000000"/>
                </a:solidFill>
              </a:rPr>
              <a:t>Verification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3611880"/>
            <a:ext cx="7040880" cy="502920"/>
          </a:xfrm>
          <a:prstGeom prst="roundRect">
            <a:avLst/>
          </a:prstGeom>
          <a:solidFill>
            <a:srgbClr val="F7F7F7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/>
            </a:pPr>
            <a:r>
              <a:rPr>
                <a:solidFill>
                  <a:srgbClr val="000000"/>
                </a:solidFill>
              </a:rPr>
              <a:t>Only a confirmed backup state can unlock deletion.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434840"/>
            <a:ext cx="594360" cy="502920"/>
          </a:xfrm>
          <a:prstGeom prst="roundRect">
            <a:avLst/>
          </a:prstGeom>
          <a:solidFill>
            <a:srgbClr val="E6E6E6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/>
            </a:pPr>
            <a:r>
              <a:rPr>
                <a:solidFill>
                  <a:srgbClr val="000000"/>
                </a:solidFill>
              </a:rPr>
              <a:t>5A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4434840"/>
            <a:ext cx="2560320" cy="502920"/>
          </a:xfrm>
          <a:prstGeom prst="roundRect">
            <a:avLst/>
          </a:prstGeom>
          <a:solidFill>
            <a:srgbClr val="E1F0F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/>
            </a:pPr>
            <a:r>
              <a:rPr>
                <a:solidFill>
                  <a:srgbClr val="000000"/>
                </a:solidFill>
              </a:rPr>
              <a:t>FAIL / UNKNOWN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0" y="4434840"/>
            <a:ext cx="7040880" cy="502920"/>
          </a:xfrm>
          <a:prstGeom prst="roundRect">
            <a:avLst/>
          </a:prstGeom>
          <a:solidFill>
            <a:srgbClr val="F7F7F7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/>
            </a:pPr>
            <a:r>
              <a:rPr>
                <a:solidFill>
                  <a:srgbClr val="000000"/>
                </a:solidFill>
              </a:rPr>
              <a:t>KEEP local file → retry later.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257800"/>
            <a:ext cx="594360" cy="502920"/>
          </a:xfrm>
          <a:prstGeom prst="roundRect">
            <a:avLst/>
          </a:prstGeom>
          <a:solidFill>
            <a:srgbClr val="E6E6E6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/>
            </a:pPr>
            <a:r>
              <a:rPr>
                <a:solidFill>
                  <a:srgbClr val="000000"/>
                </a:solidFill>
              </a:rPr>
              <a:t>5B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5257800"/>
            <a:ext cx="2560320" cy="502920"/>
          </a:xfrm>
          <a:prstGeom prst="roundRect">
            <a:avLst/>
          </a:prstGeom>
          <a:solidFill>
            <a:srgbClr val="E1F0F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/>
            </a:pPr>
            <a:r>
              <a:rPr>
                <a:solidFill>
                  <a:srgbClr val="000000"/>
                </a:solidFill>
              </a:rPr>
              <a:t>CONFIRMED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0" y="5257800"/>
            <a:ext cx="7040880" cy="502920"/>
          </a:xfrm>
          <a:prstGeom prst="roundRect">
            <a:avLst/>
          </a:prstGeom>
          <a:solidFill>
            <a:srgbClr val="F7F7F7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/>
            </a:pPr>
            <a:r>
              <a:rPr>
                <a:solidFill>
                  <a:srgbClr val="000000"/>
                </a:solidFill>
              </a:rPr>
              <a:t>Delete ONLY the phone-local copy.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6172200"/>
            <a:ext cx="9784080" cy="411480"/>
          </a:xfrm>
          <a:prstGeom prst="roundRect">
            <a:avLst/>
          </a:prstGeom>
          <a:solidFill>
            <a:srgbClr val="F5E1E1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/>
            </a:pPr>
            <a:r>
              <a:rPr>
                <a:solidFill>
                  <a:srgbClr val="000000"/>
                </a:solidFill>
              </a:rPr>
              <a:t>Google Photos/cloud copy is never deleted by this system.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rPr>
                <a:solidFill>
                  <a:srgbClr val="000000"/>
                </a:solidFill>
              </a:rPr>
              <a:t>CameraNAS system plan • Mi 360 1080p + CP Plus CP-E35Q • Local delete only after verified cloud backup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>
                <a:solidFill>
                  <a:srgbClr val="000000"/>
                </a:solidFill>
              </a:rPr>
              <a:t>Backup failure and automatic retry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rPr>
                <a:solidFill>
                  <a:srgbClr val="000000"/>
                </a:solidFill>
              </a:rPr>
              <a:t>Fail = keep local. Retry until verification passes.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1920240" cy="1005840"/>
          </a:xfrm>
          <a:prstGeom prst="roundRect">
            <a:avLst/>
          </a:prstGeom>
          <a:solidFill>
            <a:srgbClr val="E1F5E1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/>
            </a:pPr>
            <a:r>
              <a:rPr>
                <a:solidFill>
                  <a:srgbClr val="000000"/>
                </a:solidFill>
              </a:rPr>
              <a:t>Local file</a:t>
            </a:r>
          </a:p>
          <a:p>
            <a:pPr algn="ctr">
              <a:defRPr sz="1500" b="1"/>
            </a:pPr>
            <a:r>
              <a:rPr>
                <a:solidFill>
                  <a:srgbClr val="000000"/>
                </a:solidFill>
              </a:rPr>
              <a:t>saved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011680"/>
            <a:ext cx="1920240" cy="1005840"/>
          </a:xfrm>
          <a:prstGeom prst="roundRect">
            <a:avLst/>
          </a:prstGeom>
          <a:solidFill>
            <a:srgbClr val="E1EBF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/>
            </a:pPr>
            <a:r>
              <a:rPr>
                <a:solidFill>
                  <a:srgbClr val="000000"/>
                </a:solidFill>
              </a:rPr>
              <a:t>Backup</a:t>
            </a:r>
          </a:p>
          <a:p>
            <a:pPr algn="ctr">
              <a:defRPr sz="1500" b="1"/>
            </a:pPr>
            <a:r>
              <a:rPr>
                <a:solidFill>
                  <a:srgbClr val="000000"/>
                </a:solidFill>
              </a:rPr>
              <a:t>attempt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143000"/>
            <a:ext cx="1920240" cy="1005840"/>
          </a:xfrm>
          <a:prstGeom prst="roundRect">
            <a:avLst/>
          </a:prstGeom>
          <a:solidFill>
            <a:srgbClr val="FAE1E1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/>
            </a:pPr>
            <a:r>
              <a:rPr>
                <a:solidFill>
                  <a:srgbClr val="000000"/>
                </a:solidFill>
              </a:rPr>
              <a:t>FAILED</a:t>
            </a:r>
          </a:p>
          <a:p>
            <a:pPr algn="ctr">
              <a:defRPr sz="1500" b="1"/>
            </a:pPr>
            <a:r>
              <a:rPr>
                <a:solidFill>
                  <a:srgbClr val="000000"/>
                </a:solidFill>
              </a:rPr>
              <a:t>KEEP LOCAL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2926080"/>
            <a:ext cx="1920240" cy="1005840"/>
          </a:xfrm>
          <a:prstGeom prst="roundRect">
            <a:avLst/>
          </a:prstGeom>
          <a:solidFill>
            <a:srgbClr val="E1F5E1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/>
            </a:pPr>
            <a:r>
              <a:rPr>
                <a:solidFill>
                  <a:srgbClr val="000000"/>
                </a:solidFill>
              </a:rPr>
              <a:t>CONFIRMED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926080"/>
            <a:ext cx="1920240" cy="1005840"/>
          </a:xfrm>
          <a:prstGeom prst="roundRect">
            <a:avLst/>
          </a:prstGeom>
          <a:solidFill>
            <a:srgbClr val="F5EBD7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/>
            </a:pPr>
            <a:r>
              <a:rPr>
                <a:solidFill>
                  <a:srgbClr val="000000"/>
                </a:solidFill>
              </a:rPr>
              <a:t>Delete LOCAL</a:t>
            </a:r>
          </a:p>
          <a:p>
            <a:pPr algn="ctr">
              <a:defRPr sz="1500" b="1"/>
            </a:pPr>
            <a:r>
              <a:rPr>
                <a:solidFill>
                  <a:srgbClr val="000000"/>
                </a:solidFill>
              </a:rPr>
              <a:t>copy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143000"/>
            <a:ext cx="1920240" cy="1005840"/>
          </a:xfrm>
          <a:prstGeom prst="roundRect">
            <a:avLst/>
          </a:prstGeom>
          <a:solidFill>
            <a:srgbClr val="EBEBF5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/>
            </a:pPr>
            <a:r>
              <a:rPr>
                <a:solidFill>
                  <a:srgbClr val="000000"/>
                </a:solidFill>
              </a:rPr>
              <a:t>Wait + RETRY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77440" y="2514600"/>
            <a:ext cx="54864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846320" y="1645920"/>
            <a:ext cx="640080" cy="86868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846320" y="2514600"/>
            <a:ext cx="640080" cy="91440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406640" y="1645920"/>
            <a:ext cx="64008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406640" y="3429000"/>
            <a:ext cx="64008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006840" y="2148840"/>
            <a:ext cx="0" cy="77724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rPr>
                <a:solidFill>
                  <a:srgbClr val="000000"/>
                </a:solidFill>
              </a:rPr>
              <a:t>CameraNAS system plan • Mi 360 1080p + CP Plus CP-E35Q • Local delete only after verified cloud backup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>
                <a:solidFill>
                  <a:srgbClr val="000000"/>
                </a:solidFill>
              </a:rPr>
              <a:t>64 GB storage protection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rPr>
                <a:solidFill>
                  <a:srgbClr val="000000"/>
                </a:solidFill>
              </a:rPr>
              <a:t>Use runtime free space, not a hard-coded assumption of 64 GB usable.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926080" cy="914400"/>
          </a:xfrm>
          <a:prstGeom prst="roundRect">
            <a:avLst/>
          </a:prstGeom>
          <a:solidFill>
            <a:srgbClr val="E1F5E1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/>
            </a:pPr>
            <a:r>
              <a:rPr>
                <a:solidFill>
                  <a:srgbClr val="000000"/>
                </a:solidFill>
              </a:rPr>
              <a:t>FREE &gt; 12 GB</a:t>
            </a:r>
          </a:p>
          <a:p>
            <a:pPr algn="ctr">
              <a:defRPr sz="1700" b="1"/>
            </a:pPr>
            <a:r>
              <a:rPr>
                <a:solidFill>
                  <a:srgbClr val="000000"/>
                </a:solidFill>
              </a:rPr>
              <a:t>NORMAL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743200"/>
            <a:ext cx="2926080" cy="914400"/>
          </a:xfrm>
          <a:prstGeom prst="roundRect">
            <a:avLst/>
          </a:prstGeom>
          <a:solidFill>
            <a:srgbClr val="FAF0D7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/>
            </a:pPr>
            <a:r>
              <a:rPr>
                <a:solidFill>
                  <a:srgbClr val="000000"/>
                </a:solidFill>
              </a:rPr>
              <a:t>FREE 8–12 GB</a:t>
            </a:r>
          </a:p>
          <a:p>
            <a:pPr algn="ctr">
              <a:defRPr sz="1700" b="1"/>
            </a:pPr>
            <a:r>
              <a:rPr>
                <a:solidFill>
                  <a:srgbClr val="000000"/>
                </a:solidFill>
              </a:rPr>
              <a:t>LOW / prepare cleanup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114800"/>
            <a:ext cx="2926080" cy="914400"/>
          </a:xfrm>
          <a:prstGeom prst="roundRect">
            <a:avLst/>
          </a:prstGeom>
          <a:solidFill>
            <a:srgbClr val="FAE1E1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/>
            </a:pPr>
            <a:r>
              <a:rPr>
                <a:solidFill>
                  <a:srgbClr val="000000"/>
                </a:solidFill>
              </a:rPr>
              <a:t>FREE &lt; 8 GB</a:t>
            </a:r>
          </a:p>
          <a:p>
            <a:pPr algn="ctr">
              <a:defRPr sz="1700" b="1"/>
            </a:pPr>
            <a:r>
              <a:rPr>
                <a:solidFill>
                  <a:srgbClr val="000000"/>
                </a:solidFill>
              </a:rPr>
              <a:t>CRITICAL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6858000" cy="3566160"/>
          </a:xfrm>
          <a:prstGeom prst="roundRect">
            <a:avLst/>
          </a:prstGeom>
          <a:solidFill>
            <a:srgbClr val="EEEEF8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/>
            </a:pPr>
            <a:r>
              <a:rPr>
                <a:solidFill>
                  <a:srgbClr val="000000"/>
                </a:solidFill>
              </a:rPr>
              <a:t>Cleanup priority</a:t>
            </a:r>
          </a:p>
          <a:p>
            <a:pPr algn="ctr">
              <a:defRPr sz="1700" b="1"/>
            </a:pPr>
          </a:p>
          <a:p>
            <a:pPr algn="ctr">
              <a:defRPr sz="1700" b="1"/>
            </a:pPr>
            <a:r>
              <a:rPr>
                <a:solidFill>
                  <a:srgbClr val="000000"/>
                </a:solidFill>
              </a:rPr>
              <a:t>1. Oldest completed file</a:t>
            </a:r>
          </a:p>
          <a:p>
            <a:pPr algn="ctr">
              <a:defRPr sz="1700" b="1"/>
            </a:pPr>
            <a:r>
              <a:rPr>
                <a:solidFill>
                  <a:srgbClr val="000000"/>
                </a:solidFill>
              </a:rPr>
              <a:t>2. Backup VERIFIED</a:t>
            </a:r>
          </a:p>
          <a:p>
            <a:pPr algn="ctr">
              <a:defRPr sz="1700" b="1"/>
            </a:pPr>
            <a:r>
              <a:rPr>
                <a:solidFill>
                  <a:srgbClr val="000000"/>
                </a:solidFill>
              </a:rPr>
              <a:t>3. Not currently being written</a:t>
            </a:r>
          </a:p>
          <a:p>
            <a:pPr algn="ctr">
              <a:defRPr sz="1700" b="1"/>
            </a:pPr>
            <a:r>
              <a:rPr>
                <a:solidFill>
                  <a:srgbClr val="000000"/>
                </a:solidFill>
              </a:rPr>
              <a:t>4. Minimum-retention rule satisfied</a:t>
            </a:r>
          </a:p>
          <a:p>
            <a:pPr algn="ctr">
              <a:defRPr sz="1700" b="1"/>
            </a:pPr>
            <a:r>
              <a:rPr>
                <a:solidFill>
                  <a:srgbClr val="000000"/>
                </a:solidFill>
              </a:rPr>
              <a:t>5. Delete local copy only</a:t>
            </a:r>
          </a:p>
          <a:p>
            <a:pPr algn="ctr">
              <a:defRPr sz="1700" b="1"/>
            </a:pPr>
          </a:p>
          <a:p>
            <a:pPr algn="ctr">
              <a:defRPr sz="1700" b="1"/>
            </a:pPr>
            <a:r>
              <a:rPr>
                <a:solidFill>
                  <a:srgbClr val="000000"/>
                </a:solidFill>
              </a:rPr>
              <a:t>Never blind-delete an unverified file just because storage is 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rPr>
                <a:solidFill>
                  <a:srgbClr val="000000"/>
                </a:solidFill>
              </a:rPr>
              <a:t>CameraNAS system plan • Mi 360 1080p + CP Plus CP-E35Q • Local delete only after verified cloud backup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864"/>
                </a:solidFill>
              </a:defRPr>
            </a:pPr>
            <a:r>
              <a:t>Dynamic Storage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B4B4"/>
                </a:solidFill>
              </a:defRPr>
            </a:pPr>
            <a:r>
              <a:t>Auto-detects device capacity - 32GB/64GB/128GB/256GB+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CDCDC"/>
                </a:solidFill>
              </a:defRPr>
            </a:pPr>
            <a:r>
              <a:t>DYNAMIC STORAGE ENGINE</a:t>
            </a:r>
            <a:br/>
            <a:r>
              <a:t>==================================================</a:t>
            </a:r>
            <a:br/>
            <a:r>
              <a:t>BEFORE (Fixed 64GB):</a:t>
            </a:r>
            <a:br/>
            <a:r>
              <a:t>  LOW_THRESHOLD = 8 GB    &lt;-- HARDCODED</a:t>
            </a:r>
            <a:br/>
            <a:r>
              <a:t>  CRITICAL_THRESHOLD = 12 GB</a:t>
            </a:r>
            <a:br/>
            <a:br/>
            <a:r>
              <a:t>AFTER (Dynamic Detection):</a:t>
            </a:r>
            <a:br/>
            <a:r>
              <a:t>  actual_storage = detect_device_storage()  &lt;-- AUTO-DETECT</a:t>
            </a:r>
            <a:br/>
            <a:r>
              <a:t>  LOW_THRESHOLD = actual_storage * 0.25      &lt;-- 25% of total</a:t>
            </a:r>
            <a:br/>
            <a:r>
              <a:t>  CRITICAL_THRESHOLD = actual_storage * 0.15  &lt;-- 15% of total</a:t>
            </a:r>
            <a:br/>
            <a:r>
              <a:t>  CLEANUP_TRIGGER = actual_storage * 0.20     &lt;-- 20% of total</a:t>
            </a:r>
            <a:br/>
            <a:br/>
            <a:r>
              <a:t>EXAMPLES:</a:t>
            </a:r>
            <a:br/>
            <a:r>
              <a:t>  32GB Device  -&gt; Low: 8GB   | Critical: 4.8GB  | Cleanup at: 6.4GB</a:t>
            </a:r>
            <a:br/>
            <a:r>
              <a:t>  64GB Device  -&gt; Low: 16GB  | Critical: 9.6GB  | Cleanup at: 12.8GB</a:t>
            </a:r>
            <a:br/>
            <a:r>
              <a:t>  128GB Device -&gt; Low: 32GB  | Critical: 19.2GB | Cleanup at: 25.6GB</a:t>
            </a:r>
            <a:br/>
            <a:r>
              <a:t>  256GB Device -&gt; Low: 64GB  | Critical: 38.4GB | Cleanup at: 51.2GB</a:t>
            </a:r>
            <a:br/>
            <a:br/>
            <a:r>
              <a:t>STORAGE DETECTION METHODS:</a:t>
            </a:r>
            <a:br/>
            <a:r>
              <a:t>1. Scan available partitions on device</a:t>
            </a:r>
            <a:br/>
            <a:r>
              <a:t>2. Check Android Shared Storage size</a:t>
            </a:r>
            <a:br/>
            <a:r>
              <a:t>3. User-configurable override in config.json</a:t>
            </a:r>
            <a:br/>
            <a:r>
              <a:t>4. Fallback: auto-calculate from free space</a:t>
            </a:r>
            <a:br/>
            <a:br/>
            <a:r>
              <a:t>CONFIG.JSON EXAMPLE:</a:t>
            </a:r>
            <a:br/>
            <a:r>
              <a:t>{</a:t>
            </a:r>
            <a:br/>
            <a:r>
              <a:t>  "storage": {</a:t>
            </a:r>
            <a:br/>
            <a:r>
              <a:t>    "device_type": "auto",</a:t>
            </a:r>
            <a:br/>
            <a:r>
              <a:t>    "total_capacity_gb": "auto_detect",</a:t>
            </a:r>
            <a:br/>
            <a:r>
              <a:t>    "low_threshold_pct": 25,</a:t>
            </a:r>
            <a:br/>
            <a:r>
              <a:t>    "critical_threshold_pct": 15,</a:t>
            </a:r>
            <a:br/>
            <a:r>
              <a:t>    "cleanup_threshold_pct": 20,</a:t>
            </a:r>
            <a:br/>
            <a:r>
              <a:t>    "min_retention_hours": 24</a:t>
            </a:r>
            <a:br/>
            <a:r>
              <a:t>  }</a:t>
            </a:r>
            <a:br/>
            <a:r>
              <a:t>}</a:t>
            </a:r>
            <a:br/>
            <a:br/>
            <a:r>
              <a:t>NEVER ASSUME STORAGE - ALWAYS MEASURE AT RUNTIME</a:t>
            </a:r>
            <a:b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864"/>
                </a:solidFill>
              </a:defRPr>
            </a:pPr>
            <a:r>
              <a:t>Adding a New Camera - Step by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B4B4"/>
                </a:solidFill>
              </a:defRPr>
            </a:pPr>
            <a:r>
              <a:t>Any camera can be added without breaking existing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DCDC"/>
                </a:solidFill>
              </a:defRPr>
            </a:pPr>
            <a:r>
              <a:t>CAMERA ADD WORKFLOW</a:t>
            </a:r>
            <a:br/>
            <a:r>
              <a:t>==================================================</a:t>
            </a:r>
            <a:br/>
            <a:r>
              <a:t>STEP 1: CONNECT</a:t>
            </a:r>
            <a:br/>
            <a:r>
              <a:t>  -&gt; Plug in / Power on new camera</a:t>
            </a:r>
            <a:br/>
            <a:r>
              <a:t>  -&gt; Ensure it is on same Wi-Fi/LAN</a:t>
            </a:r>
            <a:br/>
            <a:br/>
            <a:r>
              <a:t>STEP 2: AUTO-DETECT</a:t>
            </a:r>
            <a:br/>
            <a:r>
              <a:t>  -&gt; System scans LAN for new RTSP/Mi Home devices</a:t>
            </a:r>
            <a:br/>
            <a:r>
              <a:t>  -&gt; Assigns unique CAM_ID (CAM_003, CAM_004, etc.)</a:t>
            </a:r>
            <a:br/>
            <a:br/>
            <a:r>
              <a:t>STEP 3: CONFIGURE</a:t>
            </a:r>
            <a:br/>
            <a:r>
              <a:t>  -&gt; Select recording method:</a:t>
            </a:r>
            <a:br/>
            <a:r>
              <a:t>    * microSD -&gt; NAS backup path</a:t>
            </a:r>
            <a:br/>
            <a:r>
              <a:t>    * RTSP -&gt; FFmpeg capture</a:t>
            </a:r>
            <a:br/>
            <a:r>
              <a:t>    * Custom -&gt; Manual RTSP URL</a:t>
            </a:r>
            <a:br/>
            <a:br/>
            <a:r>
              <a:t>STEP 4: VALIDATE</a:t>
            </a:r>
            <a:br/>
            <a:r>
              <a:t>  -&gt; Test recording -&gt; Verify file creation</a:t>
            </a:r>
            <a:br/>
            <a:r>
              <a:t>  -&gt; Check storage path allocation</a:t>
            </a:r>
            <a:br/>
            <a:r>
              <a:t>  -&gt; Confirm Google Photos backup flow</a:t>
            </a:r>
            <a:br/>
            <a:br/>
            <a:r>
              <a:t>STEP 5: ACTIVATE</a:t>
            </a:r>
            <a:br/>
            <a:r>
              <a:t>  -&gt; System adds camera to registry</a:t>
            </a:r>
            <a:br/>
            <a:r>
              <a:t>  -&gt; Parallel recording starts automatically</a:t>
            </a:r>
            <a:br/>
            <a:r>
              <a:t>  -&gt; Backup + cleanup rules apply identically</a:t>
            </a:r>
            <a:br/>
            <a:br/>
            <a:r>
              <a:t>NO REBOOT NEEDED | NO CODE CHANGE | NO RECONFIGURATION OF EXISTING CAMERAS</a:t>
            </a:r>
            <a:b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864"/>
                </a:solidFill>
              </a:defRPr>
            </a:pPr>
            <a:r>
              <a:t>Storage-Aware Cleanup - Dynamic Thresholds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B4B4"/>
                </a:solidFill>
              </a:defRPr>
            </a:pPr>
            <a:r>
              <a:t>Cleanup behavior adapts to actual device capacity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CDCDC"/>
                </a:solidFill>
              </a:defRPr>
            </a:pPr>
            <a:r>
              <a:t>DYNAMIC CLEANUP LOGIC</a:t>
            </a:r>
            <a:br/>
            <a:r>
              <a:t>==================================================</a:t>
            </a:r>
            <a:br/>
            <a:r>
              <a:t>STORAGE SIZES CHANGE THE RULES:</a:t>
            </a:r>
            <a:br/>
            <a:br/>
            <a:r>
              <a:t>Small Device (32GB):</a:t>
            </a:r>
            <a:br/>
            <a:r>
              <a:t>  -&gt; Aggressive cleanup earlier</a:t>
            </a:r>
            <a:br/>
            <a:r>
              <a:t>  -&gt; Higher priority to verified files</a:t>
            </a:r>
            <a:br/>
            <a:r>
              <a:t>  -&gt; Minimum retention: 48 hours</a:t>
            </a:r>
            <a:br/>
            <a:r>
              <a:t>  -&gt; Max local files: ~60 (estimated)</a:t>
            </a:r>
            <a:br/>
            <a:br/>
            <a:r>
              <a:t>Medium Device (64GB):</a:t>
            </a:r>
            <a:br/>
            <a:r>
              <a:t>  -&gt; Standard cleanup thresholds</a:t>
            </a:r>
            <a:br/>
            <a:r>
              <a:t>  -&gt; Normal retention: 24-48 hours</a:t>
            </a:r>
            <a:br/>
            <a:r>
              <a:t>  -&gt; Max local files: ~120 (estimated)</a:t>
            </a:r>
            <a:br/>
            <a:br/>
            <a:r>
              <a:t>Large Device (128GB+):</a:t>
            </a:r>
            <a:br/>
            <a:r>
              <a:t>  -&gt; Relaxed cleanup</a:t>
            </a:r>
            <a:br/>
            <a:r>
              <a:t>  -&gt; Extended retention: 72+ hours</a:t>
            </a:r>
            <a:br/>
            <a:r>
              <a:t>  -&gt; Max local files: ~240+ (estimated)</a:t>
            </a:r>
            <a:br/>
            <a:r>
              <a:t>  -&gt; More buffer for burst recordings</a:t>
            </a:r>
            <a:br/>
            <a:br/>
            <a:r>
              <a:t>DYNAMIC CALCULATION:</a:t>
            </a:r>
            <a:br/>
            <a:r>
              <a:t>  max_local_files = (usable_storage_GB * 1000) / avg_file_size_MB</a:t>
            </a:r>
            <a:br/>
            <a:r>
              <a:t>  avg_file_size_MB ~ 500MB (1-min 1080p clip)</a:t>
            </a:r>
            <a:br/>
            <a:br/>
            <a:r>
              <a:t>  32GB  -&gt; ~60 files | 64GB -&gt; ~120 files</a:t>
            </a:r>
            <a:br/>
            <a:r>
              <a:t>  128GB -&gt; ~240 files | 256GB -&gt; ~480 files</a:t>
            </a:r>
            <a:br/>
            <a:br/>
            <a:r>
              <a:t>CLEANUP PRIORITY (ALL SIZES):</a:t>
            </a:r>
            <a:br/>
            <a:r>
              <a:t>1. Oldest COMPLETED + VERIFIED files first</a:t>
            </a:r>
            <a:br/>
            <a:r>
              <a:t>2. Never touch active/incomplete recordings</a:t>
            </a:r>
            <a:br/>
            <a:r>
              <a:t>3. Never touch unverified backups</a:t>
            </a:r>
            <a:br/>
            <a:r>
              <a:t>4. Respect per-camera minimum retention</a:t>
            </a:r>
            <a:b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>
                <a:solidFill>
                  <a:srgbClr val="000000"/>
                </a:solidFill>
              </a:rPr>
              <a:t>Parallel operation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rPr>
                <a:solidFill>
                  <a:srgbClr val="000000"/>
                </a:solidFill>
              </a:rPr>
              <a:t>Recording, NAS transfer, backup checks and cleanup can run simultaneously.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1645920" cy="1280160"/>
          </a:xfrm>
          <a:prstGeom prst="roundRect">
            <a:avLst/>
          </a:prstGeom>
          <a:solidFill>
            <a:srgbClr val="EBF0F5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/>
            </a:pPr>
            <a:r>
              <a:rPr>
                <a:solidFill>
                  <a:srgbClr val="000000"/>
                </a:solidFill>
              </a:rPr>
              <a:t>CP Plus</a:t>
            </a:r>
          </a:p>
          <a:p>
            <a:pPr algn="ctr">
              <a:defRPr sz="1400" b="1"/>
            </a:pPr>
            <a:r>
              <a:rPr>
                <a:solidFill>
                  <a:srgbClr val="000000"/>
                </a:solidFill>
              </a:rPr>
              <a:t>FFmpeg</a:t>
            </a:r>
          </a:p>
          <a:p>
            <a:pPr algn="ctr">
              <a:defRPr sz="1400" b="1"/>
            </a:pPr>
            <a:r>
              <a:rPr>
                <a:solidFill>
                  <a:srgbClr val="000000"/>
                </a:solidFill>
              </a:rPr>
              <a:t>recording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011680"/>
            <a:ext cx="1645920" cy="1280160"/>
          </a:xfrm>
          <a:prstGeom prst="roundRect">
            <a:avLst/>
          </a:prstGeom>
          <a:solidFill>
            <a:srgbClr val="EBF0F5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/>
            </a:pPr>
            <a:r>
              <a:rPr>
                <a:solidFill>
                  <a:srgbClr val="000000"/>
                </a:solidFill>
              </a:rPr>
              <a:t>Mi</a:t>
            </a:r>
          </a:p>
          <a:p>
            <a:pPr algn="ctr">
              <a:defRPr sz="1400" b="1"/>
            </a:pPr>
            <a:r>
              <a:rPr>
                <a:solidFill>
                  <a:srgbClr val="000000"/>
                </a:solidFill>
              </a:rPr>
              <a:t>NAS transfer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2011680"/>
            <a:ext cx="1645920" cy="1280160"/>
          </a:xfrm>
          <a:prstGeom prst="roundRect">
            <a:avLst/>
          </a:prstGeom>
          <a:solidFill>
            <a:srgbClr val="EBF0F5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/>
            </a:pPr>
            <a:r>
              <a:rPr>
                <a:solidFill>
                  <a:srgbClr val="000000"/>
                </a:solidFill>
              </a:rPr>
              <a:t>Google Photos</a:t>
            </a:r>
          </a:p>
          <a:p>
            <a:pPr algn="ctr">
              <a:defRPr sz="1400" b="1"/>
            </a:pPr>
            <a:r>
              <a:rPr>
                <a:solidFill>
                  <a:srgbClr val="000000"/>
                </a:solidFill>
              </a:rPr>
              <a:t>backup/retry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2011680"/>
            <a:ext cx="1645920" cy="1280160"/>
          </a:xfrm>
          <a:prstGeom prst="roundRect">
            <a:avLst/>
          </a:prstGeom>
          <a:solidFill>
            <a:srgbClr val="EBF0F5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/>
            </a:pPr>
            <a:r>
              <a:rPr>
                <a:solidFill>
                  <a:srgbClr val="000000"/>
                </a:solidFill>
              </a:rPr>
              <a:t>Storage</a:t>
            </a:r>
          </a:p>
          <a:p>
            <a:pPr algn="ctr">
              <a:defRPr sz="1400" b="1"/>
            </a:pPr>
            <a:r>
              <a:rPr>
                <a:solidFill>
                  <a:srgbClr val="000000"/>
                </a:solidFill>
              </a:rPr>
              <a:t>monitor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0" y="2011680"/>
            <a:ext cx="1645920" cy="1280160"/>
          </a:xfrm>
          <a:prstGeom prst="roundRect">
            <a:avLst/>
          </a:prstGeom>
          <a:solidFill>
            <a:srgbClr val="EBF0F5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/>
            </a:pPr>
            <a:r>
              <a:rPr>
                <a:solidFill>
                  <a:srgbClr val="000000"/>
                </a:solidFill>
              </a:rPr>
              <a:t>Cleanup</a:t>
            </a:r>
          </a:p>
          <a:p>
            <a:pPr algn="ctr">
              <a:defRPr sz="1400" b="1"/>
            </a:pPr>
            <a:r>
              <a:rPr>
                <a:solidFill>
                  <a:srgbClr val="000000"/>
                </a:solidFill>
              </a:rPr>
              <a:t>verified files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94560" y="2651760"/>
            <a:ext cx="73152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72000" y="2651760"/>
            <a:ext cx="73152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949440" y="2651760"/>
            <a:ext cx="73152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326880" y="2651760"/>
            <a:ext cx="73152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828800" y="4114800"/>
            <a:ext cx="8503920" cy="914400"/>
          </a:xfrm>
          <a:prstGeom prst="roundRect">
            <a:avLst/>
          </a:prstGeom>
          <a:solidFill>
            <a:srgbClr val="FAE1E1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/>
            </a:pPr>
            <a:r>
              <a:rPr>
                <a:solidFill>
                  <a:srgbClr val="000000"/>
                </a:solidFill>
              </a:rPr>
              <a:t>Rule: cleanup never touches an active/incomplete recording or an unverified backup.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rPr>
                <a:solidFill>
                  <a:srgbClr val="000000"/>
                </a:solidFill>
              </a:rPr>
              <a:t>CameraNAS system plan • Mi 360 1080p + CP Plus CP-E35Q • Local delete only after verified cloud backup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>
                <a:solidFill>
                  <a:srgbClr val="000000"/>
                </a:solidFill>
              </a:rPr>
              <a:t>Logging and status visibility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rPr>
                <a:solidFill>
                  <a:srgbClr val="000000"/>
                </a:solidFill>
              </a:rPr>
              <a:t>Every failure must identify which component failed.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1828800" cy="685800"/>
          </a:xfrm>
          <a:prstGeom prst="roundRect">
            <a:avLst/>
          </a:prstGeom>
          <a:solidFill>
            <a:srgbClr val="E6EBF5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/>
            </a:pPr>
            <a:r>
              <a:rPr>
                <a:solidFill>
                  <a:srgbClr val="000000"/>
                </a:solidFill>
              </a:rPr>
              <a:t>CP_PLUS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234440"/>
            <a:ext cx="8686800" cy="685800"/>
          </a:xfrm>
          <a:prstGeom prst="roundRect">
            <a:avLst/>
          </a:prstGeom>
          <a:solidFill>
            <a:srgbClr val="F7F7F7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/>
            </a:pPr>
            <a:r>
              <a:rPr>
                <a:solidFill>
                  <a:srgbClr val="000000"/>
                </a:solidFill>
              </a:rPr>
              <a:t>RECORDING_STARTED / SEGMENT_CREATED / RTSP_DISCONNECTED / RECONNECTED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1828800" cy="685800"/>
          </a:xfrm>
          <a:prstGeom prst="roundRect">
            <a:avLst/>
          </a:prstGeom>
          <a:solidFill>
            <a:srgbClr val="E6EBF5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/>
            </a:pPr>
            <a:r>
              <a:rPr>
                <a:solidFill>
                  <a:srgbClr val="000000"/>
                </a:solidFill>
              </a:rPr>
              <a:t>MI_NAS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377440"/>
            <a:ext cx="8686800" cy="685800"/>
          </a:xfrm>
          <a:prstGeom prst="roundRect">
            <a:avLst/>
          </a:prstGeom>
          <a:solidFill>
            <a:srgbClr val="F7F7F7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/>
            </a:pPr>
            <a:r>
              <a:rPr>
                <a:solidFill>
                  <a:srgbClr val="000000"/>
                </a:solidFill>
              </a:rPr>
              <a:t>CONNECTION_OK / TRANSFER_STARTED / TRANSFER_COMPLETED / CONNECTION_FAILED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20440"/>
            <a:ext cx="1828800" cy="685800"/>
          </a:xfrm>
          <a:prstGeom prst="roundRect">
            <a:avLst/>
          </a:prstGeom>
          <a:solidFill>
            <a:srgbClr val="E6EBF5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/>
            </a:pPr>
            <a:r>
              <a:rPr>
                <a:solidFill>
                  <a:srgbClr val="000000"/>
                </a:solidFill>
              </a:rPr>
              <a:t>GOOGLE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3520440"/>
            <a:ext cx="8686800" cy="685800"/>
          </a:xfrm>
          <a:prstGeom prst="roundRect">
            <a:avLst/>
          </a:prstGeom>
          <a:solidFill>
            <a:srgbClr val="F7F7F7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/>
            </a:pPr>
            <a:r>
              <a:rPr>
                <a:solidFill>
                  <a:srgbClr val="000000"/>
                </a:solidFill>
              </a:rPr>
              <a:t>BACKUP_ATTEMPT / FAILED / RETRY / CONFIRMED / DELETE_ALLOWED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663440"/>
            <a:ext cx="1828800" cy="685800"/>
          </a:xfrm>
          <a:prstGeom prst="roundRect">
            <a:avLst/>
          </a:prstGeom>
          <a:solidFill>
            <a:srgbClr val="E6EBF5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/>
            </a:pPr>
            <a:r>
              <a:rPr>
                <a:solidFill>
                  <a:srgbClr val="000000"/>
                </a:solidFill>
              </a:rPr>
              <a:t>STORAGE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4663440"/>
            <a:ext cx="8686800" cy="685800"/>
          </a:xfrm>
          <a:prstGeom prst="roundRect">
            <a:avLst/>
          </a:prstGeom>
          <a:solidFill>
            <a:srgbClr val="F7F7F7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/>
            </a:pPr>
            <a:r>
              <a:rPr>
                <a:solidFill>
                  <a:srgbClr val="000000"/>
                </a:solidFill>
              </a:rPr>
              <a:t>FREE_SPACE / NORMAL / LOW / CRITICAL / CLEANUP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rPr>
                <a:solidFill>
                  <a:srgbClr val="000000"/>
                </a:solidFill>
              </a:rPr>
              <a:t>CameraNAS system plan • Mi 360 1080p + CP Plus CP-E35Q • Local delete only after verified cloud backup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>
                <a:solidFill>
                  <a:srgbClr val="000000"/>
                </a:solidFill>
              </a:rPr>
              <a:t>Python project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rPr>
                <a:solidFill>
                  <a:srgbClr val="000000"/>
                </a:solidFill>
              </a:rPr>
              <a:t>FFmpeg records video; Python manages the system.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143000"/>
            <a:ext cx="5029200" cy="4937760"/>
          </a:xfrm>
          <a:prstGeom prst="roundRect">
            <a:avLst/>
          </a:prstGeom>
          <a:solidFill>
            <a:srgbClr val="F0F0F5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/>
            </a:pPr>
            <a:r>
              <a:rPr>
                <a:solidFill>
                  <a:srgbClr val="000000"/>
                </a:solidFill>
              </a:rPr>
              <a:t>camera_recorder/</a:t>
            </a:r>
          </a:p>
          <a:p>
            <a:pPr algn="ctr">
              <a:defRPr sz="1400" b="0"/>
            </a:pPr>
            <a:r>
              <a:rPr>
                <a:solidFill>
                  <a:srgbClr val="000000"/>
                </a:solidFill>
              </a:rPr>
              <a:t>├── main.py</a:t>
            </a:r>
          </a:p>
          <a:p>
            <a:pPr algn="ctr">
              <a:defRPr sz="1400" b="0"/>
            </a:pPr>
            <a:r>
              <a:rPr>
                <a:solidFill>
                  <a:srgbClr val="000000"/>
                </a:solidFill>
              </a:rPr>
              <a:t>├── config/</a:t>
            </a:r>
          </a:p>
          <a:p>
            <a:pPr algn="ctr">
              <a:defRPr sz="1400" b="0"/>
            </a:pPr>
            <a:r>
              <a:rPr>
                <a:solidFill>
                  <a:srgbClr val="000000"/>
                </a:solidFill>
              </a:rPr>
              <a:t>│   └── config.json</a:t>
            </a:r>
          </a:p>
          <a:p>
            <a:pPr algn="ctr">
              <a:defRPr sz="1400" b="0"/>
            </a:pPr>
            <a:r>
              <a:rPr>
                <a:solidFill>
                  <a:srgbClr val="000000"/>
                </a:solidFill>
              </a:rPr>
              <a:t>├── recorder/</a:t>
            </a:r>
          </a:p>
          <a:p>
            <a:pPr algn="ctr">
              <a:defRPr sz="1400" b="0"/>
            </a:pPr>
            <a:r>
              <a:rPr>
                <a:solidFill>
                  <a:srgbClr val="000000"/>
                </a:solidFill>
              </a:rPr>
              <a:t>│   ├── ffmpeg.py</a:t>
            </a:r>
          </a:p>
          <a:p>
            <a:pPr algn="ctr">
              <a:defRPr sz="1400" b="0"/>
            </a:pPr>
            <a:r>
              <a:rPr>
                <a:solidFill>
                  <a:srgbClr val="000000"/>
                </a:solidFill>
              </a:rPr>
              <a:t>│   ├── cpplus.py</a:t>
            </a:r>
          </a:p>
          <a:p>
            <a:pPr algn="ctr">
              <a:defRPr sz="1400" b="0"/>
            </a:pPr>
            <a:r>
              <a:rPr>
                <a:solidFill>
                  <a:srgbClr val="000000"/>
                </a:solidFill>
              </a:rPr>
              <a:t>│   └── monitor.py</a:t>
            </a:r>
          </a:p>
          <a:p>
            <a:pPr algn="ctr">
              <a:defRPr sz="1400" b="0"/>
            </a:pPr>
            <a:r>
              <a:rPr>
                <a:solidFill>
                  <a:srgbClr val="000000"/>
                </a:solidFill>
              </a:rPr>
              <a:t>├── nas/</a:t>
            </a:r>
          </a:p>
          <a:p>
            <a:pPr algn="ctr">
              <a:defRPr sz="1400" b="0"/>
            </a:pPr>
            <a:r>
              <a:rPr>
                <a:solidFill>
                  <a:srgbClr val="000000"/>
                </a:solidFill>
              </a:rPr>
              <a:t>│   └── mi_monitor.py</a:t>
            </a:r>
          </a:p>
          <a:p>
            <a:pPr algn="ctr">
              <a:defRPr sz="1400" b="0"/>
            </a:pPr>
            <a:r>
              <a:rPr>
                <a:solidFill>
                  <a:srgbClr val="000000"/>
                </a:solidFill>
              </a:rPr>
              <a:t>├── backup/</a:t>
            </a:r>
          </a:p>
          <a:p>
            <a:pPr algn="ctr">
              <a:defRPr sz="1400" b="0"/>
            </a:pPr>
            <a:r>
              <a:rPr>
                <a:solidFill>
                  <a:srgbClr val="000000"/>
                </a:solidFill>
              </a:rPr>
              <a:t>│   └── backup_manager.py</a:t>
            </a:r>
          </a:p>
          <a:p>
            <a:pPr algn="ctr">
              <a:defRPr sz="1400" b="0"/>
            </a:pPr>
            <a:r>
              <a:rPr>
                <a:solidFill>
                  <a:srgbClr val="000000"/>
                </a:solidFill>
              </a:rPr>
              <a:t>├── storage/</a:t>
            </a:r>
          </a:p>
          <a:p>
            <a:pPr algn="ctr">
              <a:defRPr sz="1400" b="0"/>
            </a:pPr>
            <a:r>
              <a:rPr>
                <a:solidFill>
                  <a:srgbClr val="000000"/>
                </a:solidFill>
              </a:rPr>
              <a:t>│   ├── folders.py</a:t>
            </a:r>
          </a:p>
          <a:p>
            <a:pPr algn="ctr">
              <a:defRPr sz="1400" b="0"/>
            </a:pPr>
            <a:r>
              <a:rPr>
                <a:solidFill>
                  <a:srgbClr val="000000"/>
                </a:solidFill>
              </a:rPr>
              <a:t>│   ├── organizer.py</a:t>
            </a:r>
          </a:p>
          <a:p>
            <a:pPr algn="ctr">
              <a:defRPr sz="1400" b="0"/>
            </a:pPr>
            <a:r>
              <a:rPr>
                <a:solidFill>
                  <a:srgbClr val="000000"/>
                </a:solidFill>
              </a:rPr>
              <a:t>│   └── cleanup.py</a:t>
            </a:r>
          </a:p>
          <a:p>
            <a:pPr algn="ctr">
              <a:defRPr sz="1400" b="0"/>
            </a:pPr>
            <a:r>
              <a:rPr>
                <a:solidFill>
                  <a:srgbClr val="000000"/>
                </a:solidFill>
              </a:rPr>
              <a:t>├── database/</a:t>
            </a:r>
          </a:p>
          <a:p>
            <a:pPr algn="ctr">
              <a:defRPr sz="1400" b="0"/>
            </a:pPr>
            <a:r>
              <a:rPr>
                <a:solidFill>
                  <a:srgbClr val="000000"/>
                </a:solidFill>
              </a:rPr>
              <a:t>│   └── database.py</a:t>
            </a:r>
          </a:p>
          <a:p>
            <a:pPr algn="ctr">
              <a:defRPr sz="1400" b="0"/>
            </a:pPr>
            <a:r>
              <a:rPr>
                <a:solidFill>
                  <a:srgbClr val="000000"/>
                </a:solidFill>
              </a:rPr>
              <a:t>├── utils/</a:t>
            </a:r>
          </a:p>
          <a:p>
            <a:pPr algn="ctr">
              <a:defRPr sz="1400" b="0"/>
            </a:pPr>
            <a:r>
              <a:rPr>
                <a:solidFill>
                  <a:srgbClr val="000000"/>
                </a:solidFill>
              </a:rPr>
              <a:t>│   ├── logger.py</a:t>
            </a:r>
          </a:p>
          <a:p>
            <a:pPr algn="ctr">
              <a:defRPr sz="1400" b="0"/>
            </a:pPr>
            <a:r>
              <a:rPr>
                <a:solidFill>
                  <a:srgbClr val="000000"/>
                </a:solidFill>
              </a:rPr>
              <a:t>│   └── storage_check.py</a:t>
            </a:r>
          </a:p>
          <a:p>
            <a:pPr algn="ctr">
              <a:defRPr sz="1400" b="0"/>
            </a:pPr>
            <a:r>
              <a:rPr>
                <a:solidFill>
                  <a:srgbClr val="000000"/>
                </a:solidFill>
              </a:rPr>
              <a:t>└── logs/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143000"/>
            <a:ext cx="4572000" cy="4937760"/>
          </a:xfrm>
          <a:prstGeom prst="roundRect">
            <a:avLst/>
          </a:prstGeom>
          <a:solidFill>
            <a:srgbClr val="E1F5EB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/>
            </a:pPr>
            <a:r>
              <a:rPr>
                <a:solidFill>
                  <a:srgbClr val="000000"/>
                </a:solidFill>
              </a:rPr>
              <a:t>FFmpeg</a:t>
            </a:r>
          </a:p>
          <a:p>
            <a:pPr algn="ctr">
              <a:defRPr sz="1600" b="1"/>
            </a:pPr>
            <a:r>
              <a:rPr>
                <a:solidFill>
                  <a:srgbClr val="000000"/>
                </a:solidFill>
              </a:rPr>
              <a:t>• RTSP receive</a:t>
            </a:r>
          </a:p>
          <a:p>
            <a:pPr algn="ctr">
              <a:defRPr sz="1600" b="1"/>
            </a:pPr>
            <a:r>
              <a:rPr>
                <a:solidFill>
                  <a:srgbClr val="000000"/>
                </a:solidFill>
              </a:rPr>
              <a:t>• HEVC copy</a:t>
            </a:r>
          </a:p>
          <a:p>
            <a:pPr algn="ctr">
              <a:defRPr sz="1600" b="1"/>
            </a:pPr>
            <a:r>
              <a:rPr>
                <a:solidFill>
                  <a:srgbClr val="000000"/>
                </a:solidFill>
              </a:rPr>
              <a:t>• 1-minute segments</a:t>
            </a:r>
          </a:p>
          <a:p>
            <a:pPr algn="ctr">
              <a:defRPr sz="1600" b="1"/>
            </a:pPr>
          </a:p>
          <a:p>
            <a:pPr algn="ctr">
              <a:defRPr sz="1600" b="1"/>
            </a:pPr>
            <a:r>
              <a:rPr>
                <a:solidFill>
                  <a:srgbClr val="000000"/>
                </a:solidFill>
              </a:rPr>
              <a:t>Python</a:t>
            </a:r>
          </a:p>
          <a:p>
            <a:pPr algn="ctr">
              <a:defRPr sz="1600" b="1"/>
            </a:pPr>
            <a:r>
              <a:rPr>
                <a:solidFill>
                  <a:srgbClr val="000000"/>
                </a:solidFill>
              </a:rPr>
              <a:t>• start/stop</a:t>
            </a:r>
          </a:p>
          <a:p>
            <a:pPr algn="ctr">
              <a:defRPr sz="1600" b="1"/>
            </a:pPr>
            <a:r>
              <a:rPr>
                <a:solidFill>
                  <a:srgbClr val="000000"/>
                </a:solidFill>
              </a:rPr>
              <a:t>• reconnect</a:t>
            </a:r>
          </a:p>
          <a:p>
            <a:pPr algn="ctr">
              <a:defRPr sz="1600" b="1"/>
            </a:pPr>
            <a:r>
              <a:rPr>
                <a:solidFill>
                  <a:srgbClr val="000000"/>
                </a:solidFill>
              </a:rPr>
              <a:t>• folder creation</a:t>
            </a:r>
          </a:p>
          <a:p>
            <a:pPr algn="ctr">
              <a:defRPr sz="1600" b="1"/>
            </a:pPr>
            <a:r>
              <a:rPr>
                <a:solidFill>
                  <a:srgbClr val="000000"/>
                </a:solidFill>
              </a:rPr>
              <a:t>• SQLite state</a:t>
            </a:r>
          </a:p>
          <a:p>
            <a:pPr algn="ctr">
              <a:defRPr sz="1600" b="1"/>
            </a:pPr>
            <a:r>
              <a:rPr>
                <a:solidFill>
                  <a:srgbClr val="000000"/>
                </a:solidFill>
              </a:rPr>
              <a:t>• logs</a:t>
            </a:r>
          </a:p>
          <a:p>
            <a:pPr algn="ctr">
              <a:defRPr sz="1600" b="1"/>
            </a:pPr>
            <a:r>
              <a:rPr>
                <a:solidFill>
                  <a:srgbClr val="000000"/>
                </a:solidFill>
              </a:rPr>
              <a:t>• storage checks</a:t>
            </a:r>
          </a:p>
          <a:p>
            <a:pPr algn="ctr">
              <a:defRPr sz="1600" b="1"/>
            </a:pPr>
            <a:r>
              <a:rPr>
                <a:solidFill>
                  <a:srgbClr val="000000"/>
                </a:solidFill>
              </a:rPr>
              <a:t>• cleanup rules</a:t>
            </a:r>
          </a:p>
          <a:p>
            <a:pPr algn="ctr">
              <a:defRPr sz="1600" b="1"/>
            </a:pPr>
            <a:r>
              <a:rPr>
                <a:solidFill>
                  <a:srgbClr val="000000"/>
                </a:solidFill>
              </a:rPr>
              <a:t>• recovery after restart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rPr>
                <a:solidFill>
                  <a:srgbClr val="000000"/>
                </a:solidFill>
              </a:rPr>
              <a:t>CameraNAS system plan • Mi 360 1080p + CP Plus CP-E35Q • Local delete only after verified cloud backup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>
                <a:solidFill>
                  <a:srgbClr val="000000"/>
                </a:solidFill>
              </a:rPr>
              <a:t>Implementation order — test one layer at a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rPr>
                <a:solidFill>
                  <a:srgbClr val="000000"/>
                </a:solidFill>
              </a:rPr>
              <a:t>Do not enable the full automation until each layer passes its own test.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502920" cy="411480"/>
          </a:xfrm>
          <a:prstGeom prst="roundRect">
            <a:avLst/>
          </a:prstGeom>
          <a:solidFill>
            <a:srgbClr val="E6E6E6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/>
            </a:pPr>
            <a:r>
              <a:rPr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1051560"/>
            <a:ext cx="1920240" cy="411480"/>
          </a:xfrm>
          <a:prstGeom prst="roundRect">
            <a:avLst/>
          </a:prstGeom>
          <a:solidFill>
            <a:srgbClr val="E1F0F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/>
            </a:pPr>
            <a:r>
              <a:rPr>
                <a:solidFill>
                  <a:srgbClr val="000000"/>
                </a:solidFill>
              </a:rPr>
              <a:t>Android shared storage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051560"/>
            <a:ext cx="8138160" cy="411480"/>
          </a:xfrm>
          <a:prstGeom prst="roundRect">
            <a:avLst/>
          </a:prstGeom>
          <a:solidFill>
            <a:srgbClr val="F7F7F7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/>
            </a:pPr>
            <a:r>
              <a:rPr>
                <a:solidFill>
                  <a:srgbClr val="000000"/>
                </a:solidFill>
              </a:rPr>
              <a:t>termux-setup-storage → CameraNAS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39"/>
            <a:ext cx="502920" cy="411480"/>
          </a:xfrm>
          <a:prstGeom prst="roundRect">
            <a:avLst/>
          </a:prstGeom>
          <a:solidFill>
            <a:srgbClr val="E6E6E6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/>
            </a:pPr>
            <a:r>
              <a:rPr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1691639"/>
            <a:ext cx="1920240" cy="411480"/>
          </a:xfrm>
          <a:prstGeom prst="roundRect">
            <a:avLst/>
          </a:prstGeom>
          <a:solidFill>
            <a:srgbClr val="E1F0F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/>
            </a:pPr>
            <a:r>
              <a:rPr>
                <a:solidFill>
                  <a:srgbClr val="000000"/>
                </a:solidFill>
              </a:rPr>
              <a:t>Samba NAS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691639"/>
            <a:ext cx="8138160" cy="411480"/>
          </a:xfrm>
          <a:prstGeom prst="roundRect">
            <a:avLst/>
          </a:prstGeom>
          <a:solidFill>
            <a:srgbClr val="F7F7F7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/>
            </a:pPr>
            <a:r>
              <a:rPr>
                <a:solidFill>
                  <a:srgbClr val="000000"/>
                </a:solidFill>
              </a:rPr>
              <a:t>Phone share → LAN access → Mi connection 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31720"/>
            <a:ext cx="502920" cy="411480"/>
          </a:xfrm>
          <a:prstGeom prst="roundRect">
            <a:avLst/>
          </a:prstGeom>
          <a:solidFill>
            <a:srgbClr val="E6E6E6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/>
            </a:pPr>
            <a:r>
              <a:rPr>
                <a:solidFill>
                  <a:srgbClr val="000000"/>
                </a:solidFill>
              </a:rPr>
              <a:t>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2331720"/>
            <a:ext cx="1920240" cy="411480"/>
          </a:xfrm>
          <a:prstGeom prst="roundRect">
            <a:avLst/>
          </a:prstGeom>
          <a:solidFill>
            <a:srgbClr val="E1F0F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/>
            </a:pPr>
            <a:r>
              <a:rPr>
                <a:solidFill>
                  <a:srgbClr val="000000"/>
                </a:solidFill>
              </a:rPr>
              <a:t>Mi camera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2331720"/>
            <a:ext cx="8138160" cy="411480"/>
          </a:xfrm>
          <a:prstGeom prst="roundRect">
            <a:avLst/>
          </a:prstGeom>
          <a:solidFill>
            <a:srgbClr val="F7F7F7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/>
            </a:pPr>
            <a:r>
              <a:rPr>
                <a:solidFill>
                  <a:srgbClr val="000000"/>
                </a:solidFill>
              </a:rPr>
              <a:t>Small NAS recording → verify file on phone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971799"/>
            <a:ext cx="502920" cy="411480"/>
          </a:xfrm>
          <a:prstGeom prst="roundRect">
            <a:avLst/>
          </a:prstGeom>
          <a:solidFill>
            <a:srgbClr val="E6E6E6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/>
            </a:pPr>
            <a:r>
              <a:rPr>
                <a:solidFill>
                  <a:srgbClr val="000000"/>
                </a:solidFill>
              </a:rPr>
              <a:t>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8720" y="2971799"/>
            <a:ext cx="1920240" cy="411480"/>
          </a:xfrm>
          <a:prstGeom prst="roundRect">
            <a:avLst/>
          </a:prstGeom>
          <a:solidFill>
            <a:srgbClr val="E1F0F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/>
            </a:pPr>
            <a:r>
              <a:rPr>
                <a:solidFill>
                  <a:srgbClr val="000000"/>
                </a:solidFill>
              </a:rPr>
              <a:t>CP Plus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2971799"/>
            <a:ext cx="8138160" cy="411480"/>
          </a:xfrm>
          <a:prstGeom prst="roundRect">
            <a:avLst/>
          </a:prstGeom>
          <a:solidFill>
            <a:srgbClr val="F7F7F7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/>
            </a:pPr>
            <a:r>
              <a:rPr>
                <a:solidFill>
                  <a:srgbClr val="000000"/>
                </a:solidFill>
              </a:rPr>
              <a:t>Existing RTSP test → 1-minute segments → longer test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11879"/>
            <a:ext cx="502920" cy="411480"/>
          </a:xfrm>
          <a:prstGeom prst="roundRect">
            <a:avLst/>
          </a:prstGeom>
          <a:solidFill>
            <a:srgbClr val="E6E6E6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/>
            </a:pPr>
            <a:r>
              <a:rPr>
                <a:solidFill>
                  <a:srgbClr val="000000"/>
                </a:solidFill>
              </a:rPr>
              <a:t>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" y="3611879"/>
            <a:ext cx="1920240" cy="411480"/>
          </a:xfrm>
          <a:prstGeom prst="roundRect">
            <a:avLst/>
          </a:prstGeom>
          <a:solidFill>
            <a:srgbClr val="E1F0F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/>
            </a:pPr>
            <a:r>
              <a:rPr>
                <a:solidFill>
                  <a:srgbClr val="000000"/>
                </a:solidFill>
              </a:rPr>
              <a:t>Python manager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3611879"/>
            <a:ext cx="8138160" cy="411480"/>
          </a:xfrm>
          <a:prstGeom prst="roundRect">
            <a:avLst/>
          </a:prstGeom>
          <a:solidFill>
            <a:srgbClr val="F7F7F7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/>
            </a:pPr>
            <a:r>
              <a:rPr>
                <a:solidFill>
                  <a:srgbClr val="000000"/>
                </a:solidFill>
              </a:rPr>
              <a:t>Folders → FFmpeg controller → monitor → reconnect → logs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251960"/>
            <a:ext cx="502920" cy="411480"/>
          </a:xfrm>
          <a:prstGeom prst="roundRect">
            <a:avLst/>
          </a:prstGeom>
          <a:solidFill>
            <a:srgbClr val="E6E6E6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/>
            </a:pPr>
            <a:r>
              <a:rPr>
                <a:solidFill>
                  <a:srgbClr val="000000"/>
                </a:solidFill>
              </a:rPr>
              <a:t>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88720" y="4251960"/>
            <a:ext cx="1920240" cy="411480"/>
          </a:xfrm>
          <a:prstGeom prst="roundRect">
            <a:avLst/>
          </a:prstGeom>
          <a:solidFill>
            <a:srgbClr val="E1F0F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/>
            </a:pPr>
            <a:r>
              <a:rPr>
                <a:solidFill>
                  <a:srgbClr val="000000"/>
                </a:solidFill>
              </a:rPr>
              <a:t>Backup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0" y="4251960"/>
            <a:ext cx="8138160" cy="411480"/>
          </a:xfrm>
          <a:prstGeom prst="roundRect">
            <a:avLst/>
          </a:prstGeom>
          <a:solidFill>
            <a:srgbClr val="F7F7F7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/>
            </a:pPr>
            <a:r>
              <a:rPr>
                <a:solidFill>
                  <a:srgbClr val="000000"/>
                </a:solidFill>
              </a:rPr>
              <a:t>Google Photos folder test → verify backup behavior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892040"/>
            <a:ext cx="502920" cy="411480"/>
          </a:xfrm>
          <a:prstGeom prst="roundRect">
            <a:avLst/>
          </a:prstGeom>
          <a:solidFill>
            <a:srgbClr val="E6E6E6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/>
            </a:pPr>
            <a:r>
              <a:rPr>
                <a:solidFill>
                  <a:srgbClr val="000000"/>
                </a:solidFill>
              </a:rPr>
              <a:t>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88720" y="4892040"/>
            <a:ext cx="1920240" cy="411480"/>
          </a:xfrm>
          <a:prstGeom prst="roundRect">
            <a:avLst/>
          </a:prstGeom>
          <a:solidFill>
            <a:srgbClr val="E1F0F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/>
            </a:pPr>
            <a:r>
              <a:rPr>
                <a:solidFill>
                  <a:srgbClr val="000000"/>
                </a:solidFill>
              </a:rPr>
              <a:t>Safety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4892040"/>
            <a:ext cx="8138160" cy="411480"/>
          </a:xfrm>
          <a:prstGeom prst="roundRect">
            <a:avLst/>
          </a:prstGeom>
          <a:solidFill>
            <a:srgbClr val="F7F7F7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/>
            </a:pPr>
            <a:r>
              <a:rPr>
                <a:solidFill>
                  <a:srgbClr val="000000"/>
                </a:solidFill>
              </a:rPr>
              <a:t>SQLite state → retry → storage thresholds → cleanup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532119"/>
            <a:ext cx="502920" cy="411480"/>
          </a:xfrm>
          <a:prstGeom prst="roundRect">
            <a:avLst/>
          </a:prstGeom>
          <a:solidFill>
            <a:srgbClr val="E6E6E6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/>
            </a:pPr>
            <a:r>
              <a:rPr>
                <a:solidFill>
                  <a:srgbClr val="000000"/>
                </a:solidFill>
              </a:rPr>
              <a:t>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88720" y="5532119"/>
            <a:ext cx="1920240" cy="411480"/>
          </a:xfrm>
          <a:prstGeom prst="roundRect">
            <a:avLst/>
          </a:prstGeom>
          <a:solidFill>
            <a:srgbClr val="E1F0F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/>
            </a:pPr>
            <a:r>
              <a:rPr>
                <a:solidFill>
                  <a:srgbClr val="000000"/>
                </a:solidFill>
              </a:rPr>
              <a:t>Recovery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91840" y="5532119"/>
            <a:ext cx="8138160" cy="411480"/>
          </a:xfrm>
          <a:prstGeom prst="roundRect">
            <a:avLst/>
          </a:prstGeom>
          <a:solidFill>
            <a:srgbClr val="F7F7F7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/>
            </a:pPr>
            <a:r>
              <a:rPr>
                <a:solidFill>
                  <a:srgbClr val="000000"/>
                </a:solidFill>
              </a:rPr>
              <a:t>Phone restart → resume pending work → long-duration 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rPr>
                <a:solidFill>
                  <a:srgbClr val="000000"/>
                </a:solidFill>
              </a:rPr>
              <a:t>CameraNAS system plan • Mi 360 1080p + CP Plus CP-E35Q • Local delete only after verified cloud backup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>
                <a:solidFill>
                  <a:srgbClr val="000000"/>
                </a:solidFill>
              </a:rPr>
              <a:t>Final operating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rPr>
                <a:solidFill>
                  <a:srgbClr val="000000"/>
                </a:solidFill>
              </a:rPr>
              <a:t>The system continuously recycles local storage without deleting unverified footage.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2286000"/>
            <a:ext cx="1645920" cy="914400"/>
          </a:xfrm>
          <a:prstGeom prst="roundRect">
            <a:avLst/>
          </a:prstGeom>
          <a:solidFill>
            <a:srgbClr val="E1F0F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/>
            </a:pPr>
            <a:r>
              <a:rPr>
                <a:solidFill>
                  <a:srgbClr val="000000"/>
                </a:solidFill>
              </a:rPr>
              <a:t>Mi / CP Plus</a:t>
            </a:r>
          </a:p>
          <a:p>
            <a:pPr algn="ctr">
              <a:defRPr sz="1400" b="1"/>
            </a:pPr>
            <a:r>
              <a:rPr>
                <a:solidFill>
                  <a:srgbClr val="000000"/>
                </a:solidFill>
              </a:rPr>
              <a:t>record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0" y="2286000"/>
            <a:ext cx="1645920" cy="914400"/>
          </a:xfrm>
          <a:prstGeom prst="roundRect">
            <a:avLst/>
          </a:prstGeom>
          <a:solidFill>
            <a:srgbClr val="E1F5E1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/>
            </a:pPr>
            <a:r>
              <a:rPr>
                <a:solidFill>
                  <a:srgbClr val="000000"/>
                </a:solidFill>
              </a:rPr>
              <a:t>Phone local</a:t>
            </a:r>
          </a:p>
          <a:p>
            <a:pPr algn="ctr">
              <a:defRPr sz="1400" b="1"/>
            </a:pPr>
            <a:r>
              <a:rPr>
                <a:solidFill>
                  <a:srgbClr val="000000"/>
                </a:solidFill>
              </a:rPr>
              <a:t>save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2286000"/>
            <a:ext cx="1645920" cy="914400"/>
          </a:xfrm>
          <a:prstGeom prst="roundRect">
            <a:avLst/>
          </a:prstGeom>
          <a:solidFill>
            <a:srgbClr val="EBE6FA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/>
            </a:pPr>
            <a:r>
              <a:rPr>
                <a:solidFill>
                  <a:srgbClr val="000000"/>
                </a:solidFill>
              </a:rPr>
              <a:t>Google Photos</a:t>
            </a:r>
          </a:p>
          <a:p>
            <a:pPr algn="ctr">
              <a:defRPr sz="1400" b="1"/>
            </a:pPr>
            <a:r>
              <a:rPr>
                <a:solidFill>
                  <a:srgbClr val="000000"/>
                </a:solidFill>
              </a:rPr>
              <a:t>backup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2286000"/>
            <a:ext cx="1645920" cy="914400"/>
          </a:xfrm>
          <a:prstGeom prst="roundRect">
            <a:avLst/>
          </a:prstGeom>
          <a:solidFill>
            <a:srgbClr val="F5F0D7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/>
            </a:pPr>
            <a:r>
              <a:rPr>
                <a:solidFill>
                  <a:srgbClr val="000000"/>
                </a:solidFill>
              </a:rPr>
              <a:t>Verify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2286000"/>
            <a:ext cx="1645920" cy="914400"/>
          </a:xfrm>
          <a:prstGeom prst="roundRect">
            <a:avLst/>
          </a:prstGeom>
          <a:solidFill>
            <a:srgbClr val="F5E1E1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/>
            </a:pPr>
            <a:r>
              <a:rPr>
                <a:solidFill>
                  <a:srgbClr val="000000"/>
                </a:solidFill>
              </a:rPr>
              <a:t>Delete local</a:t>
            </a:r>
          </a:p>
          <a:p>
            <a:pPr algn="ctr">
              <a:defRPr sz="1400" b="1"/>
            </a:pPr>
            <a:r>
              <a:rPr>
                <a:solidFill>
                  <a:srgbClr val="000000"/>
                </a:solidFill>
              </a:rPr>
              <a:t>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20" y="3931920"/>
            <a:ext cx="1371600" cy="914400"/>
          </a:xfrm>
          <a:prstGeom prst="roundRect">
            <a:avLst/>
          </a:prstGeom>
          <a:solidFill>
            <a:srgbClr val="E1F5E1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/>
            </a:pPr>
            <a:r>
              <a:rPr>
                <a:solidFill>
                  <a:srgbClr val="000000"/>
                </a:solidFill>
              </a:rPr>
              <a:t>Free space</a:t>
            </a:r>
          </a:p>
          <a:p>
            <a:pPr algn="ctr">
              <a:defRPr sz="1300" b="1"/>
            </a:pPr>
            <a:r>
              <a:rPr>
                <a:solidFill>
                  <a:srgbClr val="000000"/>
                </a:solidFill>
              </a:rPr>
              <a:t>for next files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11680" y="2743200"/>
            <a:ext cx="45720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114800" y="2743200"/>
            <a:ext cx="45720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217920" y="2743200"/>
            <a:ext cx="45720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321040" y="2743200"/>
            <a:ext cx="45720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601200" y="3200400"/>
            <a:ext cx="731520" cy="73152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97280" y="4937760"/>
            <a:ext cx="9326880" cy="685800"/>
          </a:xfrm>
          <a:prstGeom prst="roundRect">
            <a:avLst/>
          </a:prstGeom>
          <a:solidFill>
            <a:srgbClr val="FAE1E1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/>
            </a:pPr>
            <a:r>
              <a:rPr>
                <a:solidFill>
                  <a:srgbClr val="000000"/>
                </a:solidFill>
              </a:rPr>
              <a:t>If backup fails or status is uncertain: KEEP LOCAL → RETRY → VERIFY → only then delete local.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rPr>
                <a:solidFill>
                  <a:srgbClr val="000000"/>
                </a:solidFill>
              </a:rPr>
              <a:t>CameraNAS system plan • Mi 360 1080p + CP Plus CP-E35Q • Local delete only after verified cloud backup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>
                <a:solidFill>
                  <a:srgbClr val="000000"/>
                </a:solidFill>
              </a:rPr>
              <a:t>Final non-negotiable safety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rPr>
                <a:solidFill>
                  <a:srgbClr val="000000"/>
                </a:solidFill>
              </a:rPr>
              <a:t>1. Recording must finish before a file is organized or deleted.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rPr>
                <a:solidFill>
                  <a:srgbClr val="000000"/>
                </a:solidFill>
              </a:rPr>
              <a:t>2. Backup FAIL or UNKNOWN = keep the local file.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57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rPr>
                <a:solidFill>
                  <a:srgbClr val="000000"/>
                </a:solidFill>
              </a:rPr>
              <a:t>3. Backup CONFIRMED = delete only the phone-local copy.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603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rPr>
                <a:solidFill>
                  <a:srgbClr val="000000"/>
                </a:solidFill>
              </a:rPr>
              <a:t>4. Never delete the Google Photos/cloud copy.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632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rPr>
                <a:solidFill>
                  <a:srgbClr val="000000"/>
                </a:solidFill>
              </a:rPr>
              <a:t>5. Mi NAS and CP Plus RTSP have separate status and logs.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56616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rPr>
                <a:solidFill>
                  <a:srgbClr val="000000"/>
                </a:solidFill>
              </a:rPr>
              <a:t>6. Active/incomplete recordings are never cleanup targets.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690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rPr>
                <a:solidFill>
                  <a:srgbClr val="000000"/>
                </a:solidFill>
              </a:rPr>
              <a:t>7. Storage is checked dynamically; 64 GB is not assumed to be fully usable.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720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rPr>
                <a:solidFill>
                  <a:srgbClr val="000000"/>
                </a:solidFill>
              </a:rPr>
              <a:t>8. Low storage cleanup uses only completed + verified + eligible files.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0749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rPr>
                <a:solidFill>
                  <a:srgbClr val="000000"/>
                </a:solidFill>
              </a:rPr>
              <a:t>9. SQLite keeps state across phone/app restarts.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5778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rPr>
                <a:solidFill>
                  <a:srgbClr val="000000"/>
                </a:solidFill>
              </a:rPr>
              <a:t>10. Every implementation phase is tested before the next automation phase.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510528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rPr>
                <a:solidFill>
                  <a:srgbClr val="000000"/>
                </a:solidFill>
              </a:rPr>
              <a:t>CameraNAS system plan • Mi 360 1080p + CP Plus CP-E35Q • Local delete only after verified cloud backup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C864"/>
                </a:solidFill>
              </a:defRPr>
            </a:pPr>
            <a:r>
              <a:t>Google Photos Backup - SIMPLE Method (Pixel Phone)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B4B4"/>
                </a:solidFill>
              </a:defRPr>
            </a:pPr>
            <a:r>
              <a:t>NO API, NO OAuth2, NO credentials.json - Just save to DCIM/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CDCDC"/>
                </a:solidFill>
              </a:defRPr>
            </a:pPr>
            <a:r>
              <a:t>HOW IT WORKS:</a:t>
            </a:r>
            <a:br/>
            <a:r>
              <a:t>1. Turn on Google Photos backup for DCIM folder ONCE on your phone</a:t>
            </a:r>
            <a:br/>
            <a:r>
              <a:t>2. After that: EVERYTHING inside DCIM/ is auto-backed up</a:t>
            </a:r>
            <a:br/>
            <a:r>
              <a:t>3. Unlimited free storage on Pixel</a:t>
            </a:r>
            <a:br/>
            <a:br/>
            <a:r>
              <a:t>CODE FLOW:</a:t>
            </a:r>
            <a:br/>
            <a:r>
              <a:t>Record → Move file to DCIM/CameraNAS/CAM_XXX/</a:t>
            </a:r>
            <a:br/>
            <a:r>
              <a:t>→ Google Photos auto-backup (already ON)</a:t>
            </a:r>
            <a:br/>
            <a:r>
              <a:t>→ Wait 15-60 seconds (based on file size)</a:t>
            </a:r>
            <a:br/>
            <a:r>
              <a:t>→ Delete local copy ONLY after confirmed</a:t>
            </a:r>
            <a:br/>
            <a:br/>
            <a:r>
              <a:t>NO API credentials needed!</a:t>
            </a:r>
            <a:br/>
            <a:r>
              <a:t>NO google-api-python-client needed!</a:t>
            </a:r>
            <a:br/>
            <a:r>
              <a:t>NO credentials.json needed!</a:t>
            </a:r>
            <a:br/>
            <a:br/>
            <a:r>
              <a:t>Folder structure:</a:t>
            </a:r>
            <a:br/>
            <a:r>
              <a:t>DCIM/CameraNAS/CAM_001/  ← Mi 360</a:t>
            </a:r>
            <a:br/>
            <a:r>
              <a:t>DCIM/CameraNAS/CAM_002/  ← CP Plus</a:t>
            </a:r>
            <a:br/>
            <a:r>
              <a:t>DCIM/CameraNAS/CAM_XXX/  ← Any new camera (auto-created)</a:t>
            </a:r>
            <a:br/>
            <a:br/>
            <a:r>
              <a:t>Google Photos auto-backup covers ALL of DCIM/ automatically!</a:t>
            </a:r>
            <a:b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C864"/>
                </a:solidFill>
              </a:defRPr>
            </a:pPr>
            <a:r>
              <a:t>Complete System Flow - UPDATED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B4B4"/>
                </a:solidFill>
              </a:defRPr>
            </a:pPr>
            <a:r>
              <a:t>All recordings inside DCIM/CameraNAS/ → Google Photos auto-backup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DCDC"/>
                </a:solidFill>
              </a:defRPr>
            </a:pPr>
            <a:r>
              <a:t>COMPLETE FLOW:</a:t>
            </a:r>
            <a:br/>
            <a:r>
              <a:t>==================================================</a:t>
            </a:r>
            <a:br/>
            <a:br/>
            <a:r>
              <a:t>STEP 1: SETUP (bash run.sh --setup / python app.py --setup)</a:t>
            </a:r>
            <a:br/>
            <a:r>
              <a:t>  → Creates DCIM/CameraNAS/ folder structure</a:t>
            </a:r>
            <a:br/>
            <a:r>
              <a:t>  → Installs FFmpeg, Samba, Python deps</a:t>
            </a:r>
            <a:br/>
            <a:r>
              <a:t>  → Creates SQLite database</a:t>
            </a:r>
            <a:br/>
            <a:r>
              <a:t>  → Copies config.json + .env</a:t>
            </a:r>
            <a:br/>
            <a:r>
              <a:t>  → Detects storage dynamically</a:t>
            </a:r>
            <a:br/>
            <a:br/>
            <a:r>
              <a:t>STEP 2: CAMERA DETECTION (Auto)</a:t>
            </a:r>
            <a:br/>
            <a:r>
              <a:t>  → Scans LAN/Wi-Fi for RTSP/Mi Home devices</a:t>
            </a:r>
            <a:br/>
            <a:r>
              <a:t>  → CAM_001, CAM_002, CAM_003... auto-registered</a:t>
            </a:r>
            <a:br/>
            <a:r>
              <a:t>  → RTSP URL from .env file</a:t>
            </a:r>
            <a:br/>
            <a:r>
              <a:t>  → Storage path: DCIM/CameraNAS/CAM_XXX/</a:t>
            </a:r>
            <a:br/>
            <a:br/>
            <a:r>
              <a:t>STEP 3: RECORDING (Continuous)</a:t>
            </a:r>
            <a:br/>
            <a:r>
              <a:t>  CP Plus: FFmpeg -rtsp_transport tcp -i [RTSP_URL] -f segment -segment_time 60</a:t>
            </a:r>
            <a:br/>
            <a:r>
              <a:t>  → 1-min MP4 segments CONTINUOUSLY (NO -t 60!)</a:t>
            </a:r>
            <a:br/>
            <a:r>
              <a:t>  → Auto-reconnect up to 10x if RTSP drops</a:t>
            </a:r>
            <a:br/>
            <a:r>
              <a:t>  Mi: Mi Home app → microSD → NAS transfer</a:t>
            </a:r>
            <a:br/>
            <a:br/>
            <a:r>
              <a:t>STEP 4: FILE ORGANIZATION</a:t>
            </a:r>
            <a:br/>
            <a:r>
              <a:t>  → All files go to DCIM/CameraNAS/CAM_XXX/YYYY-MM-DD/HH/Footage/</a:t>
            </a:r>
            <a:br/>
            <a:r>
              <a:t>  → Google Photos auto-backup covers EVERYTHING inside DCIM/</a:t>
            </a:r>
            <a:br/>
            <a:r>
              <a:t>  → NO manual folder selection needed for new cameras</a:t>
            </a:r>
            <a:br/>
            <a:br/>
            <a:r>
              <a:t>STEP 5: GOOGLE PHOTOS BACKUP (Auto)</a:t>
            </a:r>
            <a:br/>
            <a:r>
              <a:t>  → Files in DCIM/CameraNAS/ → Google Photos auto-picks up</a:t>
            </a:r>
            <a:br/>
            <a:r>
              <a:t>  → Unlimited free backup on Pixel</a:t>
            </a:r>
            <a:br/>
            <a:r>
              <a:t>  → NO API, NO credentials, NO OAuth2</a:t>
            </a:r>
            <a:br/>
            <a:br/>
            <a:r>
              <a:t>STEP 6: VERIFICATION + DELETE</a:t>
            </a:r>
            <a:br/>
            <a:r>
              <a:t>  → Wait 15-60 seconds (file size based)</a:t>
            </a:r>
            <a:br/>
            <a:r>
              <a:t>  → Google Photos confirmed → DELETE local copy</a:t>
            </a:r>
            <a:br/>
            <a:r>
              <a:t>  → Backup FAIL → KEEP local → Retry</a:t>
            </a:r>
            <a:br/>
            <a:br/>
            <a:r>
              <a:t>STEP 7: STORAGE + CLEANUP</a:t>
            </a:r>
            <a:br/>
            <a:r>
              <a:t>  → Dynamic thresholds (25%/15%/20%)</a:t>
            </a:r>
            <a:br/>
            <a:r>
              <a:t>  → Only verified + completed files cleaned up</a:t>
            </a:r>
            <a:br/>
            <a:r>
              <a:t>  → Active recordings NEVER touched</a:t>
            </a:r>
            <a:br/>
            <a:br/>
            <a:r>
              <a:t>STEP 8: RECOVERY</a:t>
            </a:r>
            <a:br/>
            <a:r>
              <a:t>  → SQLite has all pending work</a:t>
            </a:r>
            <a:br/>
            <a:r>
              <a:t>  → Resume incomplete recordings after restart</a:t>
            </a:r>
            <a:b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C864"/>
                </a:solidFill>
              </a:defRPr>
            </a:pPr>
            <a:r>
              <a:t>Updated Folder Structure &amp; Camera Addition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B4B4"/>
                </a:solidFill>
              </a:defRPr>
            </a:pPr>
            <a:r>
              <a:t>New cameras auto-create DCIM/CameraNAS/CAM_XXX/ - Google Photos covers 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CDCDC"/>
                </a:solidFill>
              </a:defRPr>
            </a:pPr>
            <a:r>
              <a:t>FOLDER STRUCTURE:</a:t>
            </a:r>
            <a:br/>
            <a:r>
              <a:t>==================================================</a:t>
            </a:r>
            <a:br/>
            <a:r>
              <a:t>DCIM/CameraNAS/</a:t>
            </a:r>
            <a:br/>
            <a:r>
              <a:t>├── CAM_001/                    ← Mi 360 1080p recordings</a:t>
            </a:r>
            <a:br/>
            <a:r>
              <a:t>├── CAM_002/                    ← CP Plus CP-E35Q recordings  </a:t>
            </a:r>
            <a:br/>
            <a:r>
              <a:t>├── CAM_003/                    ← Any new camera (auto-created)</a:t>
            </a:r>
            <a:br/>
            <a:r>
              <a:t>├── system/</a:t>
            </a:r>
            <a:br/>
            <a:r>
              <a:t>│   ├── database/camera.db      ← SQLite state</a:t>
            </a:r>
            <a:br/>
            <a:r>
              <a:t>│   ├── logs/                   ← All log files</a:t>
            </a:r>
            <a:br/>
            <a:r>
              <a:t>│   └── config/                 ← config.json, .env</a:t>
            </a:r>
            <a:br/>
            <a:r>
              <a:t>└── ...</a:t>
            </a:r>
            <a:br/>
            <a:br/>
            <a:r>
              <a:t>Google Photos auto-backup covers ALL of DCIM/CameraNAS/ automatically!</a:t>
            </a:r>
            <a:br/>
            <a:br/>
            <a:r>
              <a:t>ADDING A NEW CAMERA (3rd camera, etc.):</a:t>
            </a:r>
            <a:br/>
            <a:r>
              <a:t>==================================================</a:t>
            </a:r>
            <a:br/>
            <a:r>
              <a:t>1. Connect camera to same Wi-Fi/LAN</a:t>
            </a:r>
            <a:br/>
            <a:r>
              <a:t>2. Edit config.json camera_registry:</a:t>
            </a:r>
            <a:br/>
            <a:r>
              <a:t>   {"CAM_003": {"name": "New Cam", "type": "ip_camera", "storage_path": "DCIM/CameraNAS/CAM_003/"}}</a:t>
            </a:r>
            <a:br/>
            <a:r>
              <a:t>3. Add RTSP_URL to .env file</a:t>
            </a:r>
            <a:br/>
            <a:r>
              <a:t>4. Run: python app.py</a:t>
            </a:r>
            <a:br/>
            <a:r>
              <a:t>5. Code auto-creates DCIM/CameraNAS/CAM_003/</a:t>
            </a:r>
            <a:br/>
            <a:r>
              <a:t>6. Google Photos auto-backup covers it - NO manual selection needed!</a:t>
            </a:r>
            <a:br/>
            <a:br/>
            <a:r>
              <a:t>.key change: ALL camera folders are INSIDE DCIM/ → auto-backed up!</a:t>
            </a:r>
            <a:b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C864"/>
                </a:solidFill>
              </a:defRPr>
            </a:pPr>
            <a:r>
              <a:t>NAS/Samba Setup &amp; Password - Updated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B4B4"/>
                </a:solidFill>
              </a:defRPr>
            </a:pPr>
            <a:r>
              <a:t>One-command setup, password managed via .env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CDCDC"/>
                </a:solidFill>
              </a:defRPr>
            </a:pPr>
            <a:r>
              <a:t>NAS/SAMBA SETUP:</a:t>
            </a:r>
            <a:br/>
            <a:r>
              <a:t>==================================================</a:t>
            </a:r>
            <a:br/>
            <a:r>
              <a:t>bash run.sh --setup does EVERYTHING automatically:</a:t>
            </a:r>
            <a:br/>
            <a:r>
              <a:t>  1. Installs Samba (pkg install samba / apt-get install samba)</a:t>
            </a:r>
            <a:br/>
            <a:r>
              <a:t>  2. Creates share directory</a:t>
            </a:r>
            <a:br/>
            <a:r>
              <a:t>  3. Creates Samba user from .env: NAS_SMB_USER, NAS_SMB_PASS</a:t>
            </a:r>
            <a:br/>
            <a:r>
              <a:t>  4. Configures smb.conf</a:t>
            </a:r>
            <a:br/>
            <a:r>
              <a:t>  5. Starts smbd service</a:t>
            </a:r>
            <a:br/>
            <a:br/>
            <a:r>
              <a:t>CREDENTIALS (.env file):</a:t>
            </a:r>
            <a:br/>
            <a:r>
              <a:t>  NAS_SMB_USER=nasuser</a:t>
            </a:r>
            <a:br/>
            <a:r>
              <a:t>  NAS_SMB_PASS=naspass123</a:t>
            </a:r>
            <a:br/>
            <a:r>
              <a:t>  NAS_SMB_SHARE=CameraNAS</a:t>
            </a:r>
            <a:br/>
            <a:br/>
            <a:r>
              <a:t>CHANGE NAS PASSWORD:</a:t>
            </a:r>
            <a:br/>
            <a:r>
              <a:t>  Method 1: Edit .env → NAS_SMB_PASS=newpassword → run setup.sh</a:t>
            </a:r>
            <a:br/>
            <a:r>
              <a:t>  Method 2: smbpasswd -a -s nasuser (enter new password twice)</a:t>
            </a:r>
            <a:br/>
            <a:r>
              <a:t>  Method 3: Python → NASManager().set_samba_password(user, pass)</a:t>
            </a:r>
            <a:br/>
            <a:br/>
            <a:r>
              <a:t>SHARE ACCESS:</a:t>
            </a:r>
            <a:br/>
            <a:r>
              <a:t>  Windows:   \\PHONE_IP\CameraNAS</a:t>
            </a:r>
            <a:br/>
            <a:r>
              <a:t>  Linux:     smbclient //PHONE_IP/CameraNAS -U nasuser</a:t>
            </a:r>
            <a:br/>
            <a:r>
              <a:t>  Android:   File manager → LAN → //PHONE_IP/CameraNAS</a:t>
            </a:r>
            <a:b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C864"/>
                </a:solidFill>
              </a:defRPr>
            </a:pPr>
            <a:r>
              <a:t>Updated .env File &amp;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B4B4"/>
                </a:solidFill>
              </a:defRPr>
            </a:pPr>
            <a:r>
              <a:t>All credentials in .env - Google Photos uses DCIM auto-backup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CDCDC"/>
                </a:solidFill>
              </a:defRPr>
            </a:pPr>
            <a:r>
              <a:t>UPDATED .env FILE (camera_recorder/system/config/.env):</a:t>
            </a:r>
            <a:br/>
            <a:r>
              <a:t>==================================================</a:t>
            </a:r>
            <a:br/>
            <a:r>
              <a:t># Google Photos Auto-Backup (Pixel unlimited free)</a:t>
            </a:r>
            <a:br/>
            <a:r>
              <a:t>GOOGLE_PHOTOS_BACKUP_FOLDER=DCIM/CameraNAS</a:t>
            </a:r>
            <a:br/>
            <a:br/>
            <a:r>
              <a:t># CP Plus RTSP</a:t>
            </a:r>
            <a:br/>
            <a:r>
              <a:t>RTSP_URL=rtsp://admin:password@192.168.1.29:5553/.../channel0</a:t>
            </a:r>
            <a:br/>
            <a:r>
              <a:t>CP_RTSP_USER=admin</a:t>
            </a:r>
            <a:br/>
            <a:r>
              <a:t>CP_RTSP_PASSWORD=password</a:t>
            </a:r>
            <a:br/>
            <a:r>
              <a:t>CP_RTSP_PORT=5553</a:t>
            </a:r>
            <a:br/>
            <a:r>
              <a:t>CP_SEGMENT_DURATION=60</a:t>
            </a:r>
            <a:br/>
            <a:br/>
            <a:r>
              <a:t># NAS/Samba</a:t>
            </a:r>
            <a:br/>
            <a:r>
              <a:t>NAS_SMB_USER=nasuser</a:t>
            </a:r>
            <a:br/>
            <a:r>
              <a:t>NAS_SMB_PASS=naspass123</a:t>
            </a:r>
            <a:br/>
            <a:r>
              <a:t>NAS_SMB_SHARE=CameraNAS</a:t>
            </a:r>
            <a:br/>
            <a:br/>
            <a:r>
              <a:t># System</a:t>
            </a:r>
            <a:br/>
            <a:r>
              <a:t>CAMERA_COUNT_LIMIT=99</a:t>
            </a:r>
            <a:br/>
            <a:r>
              <a:t>STORAGE_LOW_THRESHOLD_PCT=25</a:t>
            </a:r>
            <a:br/>
            <a:r>
              <a:t>STORAGE_CRITICAL_THRESHOLD_PCT=15</a:t>
            </a:r>
            <a:br/>
            <a:r>
              <a:t>BACKUP_MAX_RETRIES=5</a:t>
            </a:r>
            <a:br/>
            <a:r>
              <a:t>BACKUP_RETRY_DELAY_SECONDS=300</a:t>
            </a:r>
            <a:br/>
            <a:br/>
            <a:r>
              <a:t># FFmpeg: pkg install ffmpeg (Termux) / sudo apt-get install ffmpeg (Linux)</a:t>
            </a:r>
            <a:br/>
            <a:br/>
            <a:r>
              <a:t>NO google-api-python-client!</a:t>
            </a:r>
            <a:br/>
            <a:r>
              <a:t>NO OAuth2!</a:t>
            </a:r>
            <a:br/>
            <a:r>
              <a:t>NO credentials.json!</a:t>
            </a:r>
            <a:br/>
            <a:br/>
            <a:r>
              <a:t>PROJECT STATS:</a:t>
            </a:r>
            <a:br/>
            <a:r>
              <a:t>  - 24 Python files (.py)</a:t>
            </a:r>
            <a:br/>
            <a:r>
              <a:t>  - 3 setup scripts (setup.sh, run.sh, run.ps1)</a:t>
            </a:r>
            <a:br/>
            <a:r>
              <a:t>  - 19 slide PPT</a:t>
            </a:r>
            <a:br/>
            <a:r>
              <a:t>  - Works on: Termux, Linux, Windows</a:t>
            </a:r>
            <a:br/>
            <a:r>
              <a:t>  - All cameras inside DCIM/CameraNAS/</a:t>
            </a:r>
            <a:br/>
            <a:r>
              <a:t>  - Google Photos auto-backup covers everything</a:t>
            </a:r>
            <a:b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